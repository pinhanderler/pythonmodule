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B94_470EAB41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5304" r:id="rId4"/>
    <p:sldMasterId id="2147485363" r:id="rId5"/>
  </p:sldMasterIdLst>
  <p:notesMasterIdLst>
    <p:notesMasterId r:id="rId44"/>
  </p:notesMasterIdLst>
  <p:handoutMasterIdLst>
    <p:handoutMasterId r:id="rId45"/>
  </p:handoutMasterIdLst>
  <p:sldIdLst>
    <p:sldId id="1163" r:id="rId6"/>
    <p:sldId id="2786" r:id="rId7"/>
    <p:sldId id="2938" r:id="rId8"/>
    <p:sldId id="2942" r:id="rId9"/>
    <p:sldId id="2963" r:id="rId10"/>
    <p:sldId id="2964" r:id="rId11"/>
    <p:sldId id="2928" r:id="rId12"/>
    <p:sldId id="2929" r:id="rId13"/>
    <p:sldId id="2968" r:id="rId14"/>
    <p:sldId id="2969" r:id="rId15"/>
    <p:sldId id="2970" r:id="rId16"/>
    <p:sldId id="2943" r:id="rId17"/>
    <p:sldId id="2944" r:id="rId18"/>
    <p:sldId id="2947" r:id="rId19"/>
    <p:sldId id="2946" r:id="rId20"/>
    <p:sldId id="2948" r:id="rId21"/>
    <p:sldId id="2949" r:id="rId22"/>
    <p:sldId id="2952" r:id="rId23"/>
    <p:sldId id="2956" r:id="rId24"/>
    <p:sldId id="2957" r:id="rId25"/>
    <p:sldId id="2965" r:id="rId26"/>
    <p:sldId id="2951" r:id="rId27"/>
    <p:sldId id="2953" r:id="rId28"/>
    <p:sldId id="2955" r:id="rId29"/>
    <p:sldId id="2966" r:id="rId30"/>
    <p:sldId id="2961" r:id="rId31"/>
    <p:sldId id="2927" r:id="rId32"/>
    <p:sldId id="2906" r:id="rId33"/>
    <p:sldId id="2941" r:id="rId34"/>
    <p:sldId id="2940" r:id="rId35"/>
    <p:sldId id="2967" r:id="rId36"/>
    <p:sldId id="2962" r:id="rId37"/>
    <p:sldId id="2915" r:id="rId38"/>
    <p:sldId id="2931" r:id="rId39"/>
    <p:sldId id="2934" r:id="rId40"/>
    <p:sldId id="2930" r:id="rId41"/>
    <p:sldId id="2935" r:id="rId42"/>
    <p:sldId id="1191" r:id="rId43"/>
  </p:sldIdLst>
  <p:sldSz cx="12187238" cy="6859588"/>
  <p:notesSz cx="6858000" cy="9144000"/>
  <p:embeddedFontLst>
    <p:embeddedFont>
      <p:font typeface="Arial Black" panose="020B0A04020102020204" pitchFamily="34" charset="0"/>
      <p:bold r:id="rId46"/>
    </p:embeddedFont>
    <p:embeddedFont>
      <p:font typeface="Consolas" panose="020B0609020204030204" pitchFamily="49" charset="0"/>
      <p:regular r:id="rId47"/>
      <p:bold r:id="rId48"/>
      <p:italic r:id="rId49"/>
      <p:boldItalic r:id="rId50"/>
    </p:embeddedFont>
    <p:embeddedFont>
      <p:font typeface="Roboto" panose="02000000000000000000" pitchFamily="2" charset="0"/>
      <p:regular r:id="rId51"/>
      <p:bold r:id="rId52"/>
      <p:italic r:id="rId53"/>
      <p:boldItalic r:id="rId54"/>
    </p:embeddedFont>
  </p:embeddedFontLst>
  <p:custDataLst>
    <p:tags r:id="rId5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60944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1218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82832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243777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3047213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3656656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4266097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4875541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For the teachers" id="{672075E3-AA0A-4DB3-9CBE-4505128B38ED}">
          <p14:sldIdLst/>
        </p14:section>
        <p14:section name="Lesson 3" id="{C0C03DE5-1625-4BAB-A8B6-A92E75E4B40E}">
          <p14:sldIdLst>
            <p14:sldId id="1163"/>
            <p14:sldId id="2786"/>
            <p14:sldId id="2938"/>
            <p14:sldId id="2942"/>
            <p14:sldId id="2963"/>
            <p14:sldId id="2964"/>
            <p14:sldId id="2928"/>
            <p14:sldId id="2929"/>
            <p14:sldId id="2968"/>
            <p14:sldId id="2969"/>
            <p14:sldId id="2970"/>
            <p14:sldId id="2943"/>
            <p14:sldId id="2944"/>
            <p14:sldId id="2947"/>
            <p14:sldId id="2946"/>
            <p14:sldId id="2948"/>
            <p14:sldId id="2949"/>
            <p14:sldId id="2952"/>
            <p14:sldId id="2956"/>
            <p14:sldId id="2957"/>
            <p14:sldId id="2965"/>
            <p14:sldId id="2951"/>
            <p14:sldId id="2953"/>
            <p14:sldId id="2955"/>
            <p14:sldId id="2966"/>
            <p14:sldId id="2961"/>
            <p14:sldId id="2927"/>
            <p14:sldId id="2906"/>
            <p14:sldId id="2941"/>
            <p14:sldId id="2940"/>
            <p14:sldId id="2967"/>
            <p14:sldId id="2962"/>
            <p14:sldId id="2915"/>
            <p14:sldId id="2931"/>
            <p14:sldId id="2934"/>
            <p14:sldId id="2930"/>
            <p14:sldId id="2935"/>
            <p14:sldId id="1191"/>
          </p14:sldIdLst>
        </p14:section>
        <p14:section name="FAQ" id="{5A14CCEA-CFAE-4A7E-BCF5-5DD458241F88}">
          <p14:sldIdLst/>
        </p14:section>
      </p14:sectionLst>
    </p:ext>
    <p:ext uri="{EFAFB233-063F-42B5-8137-9DF3F51BA10A}">
      <p15:sldGuideLst xmlns:p15="http://schemas.microsoft.com/office/powerpoint/2012/main">
        <p15:guide id="15" orient="horz" pos="807" userDrawn="1">
          <p15:clr>
            <a:srgbClr val="A4A3A4"/>
          </p15:clr>
        </p15:guide>
        <p15:guide id="17" orient="horz" pos="4200" userDrawn="1">
          <p15:clr>
            <a:srgbClr val="A4A3A4"/>
          </p15:clr>
        </p15:guide>
        <p15:guide id="20" orient="horz" pos="597" userDrawn="1">
          <p15:clr>
            <a:srgbClr val="A4A3A4"/>
          </p15:clr>
        </p15:guide>
        <p15:guide id="22" pos="1298" userDrawn="1">
          <p15:clr>
            <a:srgbClr val="A4A3A4"/>
          </p15:clr>
        </p15:guide>
        <p15:guide id="24" pos="2515" userDrawn="1">
          <p15:clr>
            <a:srgbClr val="A4A3A4"/>
          </p15:clr>
        </p15:guide>
        <p15:guide id="25" pos="2711" userDrawn="1">
          <p15:clr>
            <a:srgbClr val="A4A3A4"/>
          </p15:clr>
        </p15:guide>
        <p15:guide id="26" pos="3743" userDrawn="1">
          <p15:clr>
            <a:srgbClr val="A4A3A4"/>
          </p15:clr>
        </p15:guide>
        <p15:guide id="27" pos="3929">
          <p15:clr>
            <a:srgbClr val="A4A3A4"/>
          </p15:clr>
        </p15:guide>
        <p15:guide id="28" pos="5159" userDrawn="1">
          <p15:clr>
            <a:srgbClr val="A4A3A4"/>
          </p15:clr>
        </p15:guide>
        <p15:guide id="30" pos="6216" userDrawn="1">
          <p15:clr>
            <a:srgbClr val="A4A3A4"/>
          </p15:clr>
        </p15:guide>
        <p15:guide id="31" pos="6401" userDrawn="1">
          <p15:clr>
            <a:srgbClr val="A4A3A4"/>
          </p15:clr>
        </p15:guide>
        <p15:guide id="36" pos="1460" userDrawn="1">
          <p15:clr>
            <a:srgbClr val="A4A3A4"/>
          </p15:clr>
        </p15:guide>
        <p15:guide id="38" pos="7452" userDrawn="1">
          <p15:clr>
            <a:srgbClr val="A4A3A4"/>
          </p15:clr>
        </p15:guide>
        <p15:guide id="39" pos="4982">
          <p15:clr>
            <a:srgbClr val="A4A3A4"/>
          </p15:clr>
        </p15:guide>
        <p15:guide id="40" orient="horz" pos="3769" userDrawn="1">
          <p15:clr>
            <a:srgbClr val="A4A3A4"/>
          </p15:clr>
        </p15:guide>
        <p15:guide id="42" pos="225" userDrawn="1">
          <p15:clr>
            <a:srgbClr val="A4A3A4"/>
          </p15:clr>
        </p15:guide>
        <p15:guide id="43" orient="horz" pos="876" userDrawn="1">
          <p15:clr>
            <a:srgbClr val="A4A3A4"/>
          </p15:clr>
        </p15:guide>
        <p15:guide id="44" orient="horz" pos="1117" userDrawn="1">
          <p15:clr>
            <a:srgbClr val="A4A3A4"/>
          </p15:clr>
        </p15:guide>
        <p15:guide id="45" orient="horz" pos="2425" userDrawn="1">
          <p15:clr>
            <a:srgbClr val="A4A3A4"/>
          </p15:clr>
        </p15:guide>
        <p15:guide id="47" orient="horz" pos="40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7B68E9-309A-E128-2F97-A8F184AB782B}" name="Bram ter Huurne" initials="Bt" userId="S::bram.ter.huurne@asml.com::d5cdfe2a-87c8-49ce-9589-52f2deb28c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200"/>
    <a:srgbClr val="FFD42E"/>
    <a:srgbClr val="FF7C80"/>
    <a:srgbClr val="99CCFF"/>
    <a:srgbClr val="E0DFE0"/>
    <a:srgbClr val="3399FF"/>
    <a:srgbClr val="D5B8EA"/>
    <a:srgbClr val="FFC100"/>
    <a:srgbClr val="6699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0C8E1C-1901-4AF3-BB31-745851CBA1FF}" v="45" dt="2026-04-15T10:28:24.918"/>
    <p1510:client id="{7527B155-8AFE-45F1-BEE7-3F604B175F07}" v="436" dt="2026-04-15T11:57:37.673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96" autoAdjust="0"/>
    <p:restoredTop sz="95706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240" y="96"/>
      </p:cViewPr>
      <p:guideLst>
        <p:guide orient="horz" pos="807"/>
        <p:guide orient="horz" pos="4200"/>
        <p:guide orient="horz" pos="597"/>
        <p:guide pos="1298"/>
        <p:guide pos="2515"/>
        <p:guide pos="2711"/>
        <p:guide pos="3743"/>
        <p:guide pos="3929"/>
        <p:guide pos="5159"/>
        <p:guide pos="6216"/>
        <p:guide pos="6401"/>
        <p:guide pos="1460"/>
        <p:guide pos="7452"/>
        <p:guide pos="4982"/>
        <p:guide orient="horz" pos="3769"/>
        <p:guide pos="225"/>
        <p:guide orient="horz" pos="876"/>
        <p:guide orient="horz" pos="1117"/>
        <p:guide orient="horz" pos="2425"/>
        <p:guide orient="horz" pos="4043"/>
      </p:guideLst>
    </p:cSldViewPr>
  </p:slideViewPr>
  <p:outlineViewPr>
    <p:cViewPr>
      <p:scale>
        <a:sx n="33" d="100"/>
        <a:sy n="33" d="100"/>
      </p:scale>
      <p:origin x="0" y="-3797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 snapToObjects="1" showGuides="1">
      <p:cViewPr varScale="1">
        <p:scale>
          <a:sx n="203" d="100"/>
          <a:sy n="203" d="100"/>
        </p:scale>
        <p:origin x="1640" y="19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gs" Target="tags/tag1.xml"/><Relationship Id="rId63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font" Target="fonts/font9.fntdata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handoutMaster" Target="handoutMasters/handoutMaster1.xml"/><Relationship Id="rId53" Type="http://schemas.openxmlformats.org/officeDocument/2006/relationships/font" Target="fonts/font8.fntdata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4.fntdata"/><Relationship Id="rId57" Type="http://schemas.openxmlformats.org/officeDocument/2006/relationships/presProps" Target="presProps.xml"/><Relationship Id="rId61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7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font" Target="fonts/font3.fntdata"/><Relationship Id="rId56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font" Target="fonts/font1.fntdata"/><Relationship Id="rId5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m ter Huurne" userId="d5cdfe2a-87c8-49ce-9589-52f2deb28c69" providerId="ADAL" clId="{E95A8B0F-4074-4C5E-87A6-4648238BB26B}"/>
    <pc:docChg chg="undo custSel mod modSld">
      <pc:chgData name="Bram ter Huurne" userId="d5cdfe2a-87c8-49ce-9589-52f2deb28c69" providerId="ADAL" clId="{E95A8B0F-4074-4C5E-87A6-4648238BB26B}" dt="2026-04-15T11:57:37.673" v="433" actId="2711"/>
      <pc:docMkLst>
        <pc:docMk/>
      </pc:docMkLst>
      <pc:sldChg chg="addSp modSp mod">
        <pc:chgData name="Bram ter Huurne" userId="d5cdfe2a-87c8-49ce-9589-52f2deb28c69" providerId="ADAL" clId="{E95A8B0F-4074-4C5E-87A6-4648238BB26B}" dt="2026-04-15T11:51:41.223" v="189" actId="20577"/>
        <pc:sldMkLst>
          <pc:docMk/>
          <pc:sldMk cId="3484388544" sldId="2786"/>
        </pc:sldMkLst>
        <pc:spChg chg="mod">
          <ac:chgData name="Bram ter Huurne" userId="d5cdfe2a-87c8-49ce-9589-52f2deb28c69" providerId="ADAL" clId="{E95A8B0F-4074-4C5E-87A6-4648238BB26B}" dt="2026-04-15T11:49:36.434" v="30" actId="6549"/>
          <ac:spMkLst>
            <pc:docMk/>
            <pc:sldMk cId="3484388544" sldId="2786"/>
            <ac:spMk id="6" creationId="{DF333905-D3D2-4E53-A699-7F3D1C34EB87}"/>
          </ac:spMkLst>
        </pc:spChg>
        <pc:spChg chg="mod">
          <ac:chgData name="Bram ter Huurne" userId="d5cdfe2a-87c8-49ce-9589-52f2deb28c69" providerId="ADAL" clId="{E95A8B0F-4074-4C5E-87A6-4648238BB26B}" dt="2026-04-15T11:51:15.397" v="159" actId="20577"/>
          <ac:spMkLst>
            <pc:docMk/>
            <pc:sldMk cId="3484388544" sldId="2786"/>
            <ac:spMk id="8" creationId="{2F56E37D-8690-41B9-BD85-ECAC6378A6B2}"/>
          </ac:spMkLst>
        </pc:spChg>
        <pc:spChg chg="add mod">
          <ac:chgData name="Bram ter Huurne" userId="d5cdfe2a-87c8-49ce-9589-52f2deb28c69" providerId="ADAL" clId="{E95A8B0F-4074-4C5E-87A6-4648238BB26B}" dt="2026-04-15T11:51:41.223" v="189" actId="20577"/>
          <ac:spMkLst>
            <pc:docMk/>
            <pc:sldMk cId="3484388544" sldId="2786"/>
            <ac:spMk id="9" creationId="{503E86DF-628C-D2D8-B627-B8725290FE30}"/>
          </ac:spMkLst>
        </pc:spChg>
        <pc:picChg chg="mod">
          <ac:chgData name="Bram ter Huurne" userId="d5cdfe2a-87c8-49ce-9589-52f2deb28c69" providerId="ADAL" clId="{E95A8B0F-4074-4C5E-87A6-4648238BB26B}" dt="2026-04-15T11:49:30.441" v="10" actId="1076"/>
          <ac:picMkLst>
            <pc:docMk/>
            <pc:sldMk cId="3484388544" sldId="2786"/>
            <ac:picMk id="5" creationId="{44FC7488-BB2A-B1F6-7516-48CDB262C1CC}"/>
          </ac:picMkLst>
        </pc:picChg>
        <pc:picChg chg="add mod">
          <ac:chgData name="Bram ter Huurne" userId="d5cdfe2a-87c8-49ce-9589-52f2deb28c69" providerId="ADAL" clId="{E95A8B0F-4074-4C5E-87A6-4648238BB26B}" dt="2026-04-15T11:50:53.196" v="146" actId="1076"/>
          <ac:picMkLst>
            <pc:docMk/>
            <pc:sldMk cId="3484388544" sldId="2786"/>
            <ac:picMk id="7" creationId="{63EE344E-ADB7-E8FF-ED04-B58620D8314D}"/>
          </ac:picMkLst>
        </pc:picChg>
      </pc:sldChg>
      <pc:sldChg chg="modSp mod">
        <pc:chgData name="Bram ter Huurne" userId="d5cdfe2a-87c8-49ce-9589-52f2deb28c69" providerId="ADAL" clId="{E95A8B0F-4074-4C5E-87A6-4648238BB26B}" dt="2026-04-15T11:53:52.537" v="432" actId="20577"/>
        <pc:sldMkLst>
          <pc:docMk/>
          <pc:sldMk cId="2914389913" sldId="2938"/>
        </pc:sldMkLst>
        <pc:spChg chg="mod">
          <ac:chgData name="Bram ter Huurne" userId="d5cdfe2a-87c8-49ce-9589-52f2deb28c69" providerId="ADAL" clId="{E95A8B0F-4074-4C5E-87A6-4648238BB26B}" dt="2026-04-15T11:52:06.906" v="191" actId="20577"/>
          <ac:spMkLst>
            <pc:docMk/>
            <pc:sldMk cId="2914389913" sldId="2938"/>
            <ac:spMk id="5" creationId="{C3748F9A-A69F-4C71-808B-B4C75C4A10B3}"/>
          </ac:spMkLst>
        </pc:spChg>
        <pc:spChg chg="mod">
          <ac:chgData name="Bram ter Huurne" userId="d5cdfe2a-87c8-49ce-9589-52f2deb28c69" providerId="ADAL" clId="{E95A8B0F-4074-4C5E-87A6-4648238BB26B}" dt="2026-04-15T11:53:52.537" v="432" actId="20577"/>
          <ac:spMkLst>
            <pc:docMk/>
            <pc:sldMk cId="2914389913" sldId="2938"/>
            <ac:spMk id="10" creationId="{75E8D763-D2D3-803C-1970-DBAA521EB201}"/>
          </ac:spMkLst>
        </pc:spChg>
      </pc:sldChg>
      <pc:sldChg chg="modSp mod">
        <pc:chgData name="Bram ter Huurne" userId="d5cdfe2a-87c8-49ce-9589-52f2deb28c69" providerId="ADAL" clId="{E95A8B0F-4074-4C5E-87A6-4648238BB26B}" dt="2026-04-15T11:57:37.673" v="433" actId="2711"/>
        <pc:sldMkLst>
          <pc:docMk/>
          <pc:sldMk cId="2255587605" sldId="2968"/>
        </pc:sldMkLst>
        <pc:spChg chg="mod">
          <ac:chgData name="Bram ter Huurne" userId="d5cdfe2a-87c8-49ce-9589-52f2deb28c69" providerId="ADAL" clId="{E95A8B0F-4074-4C5E-87A6-4648238BB26B}" dt="2026-04-15T11:57:37.673" v="433" actId="2711"/>
          <ac:spMkLst>
            <pc:docMk/>
            <pc:sldMk cId="2255587605" sldId="2968"/>
            <ac:spMk id="10" creationId="{24349BBC-74F1-6B48-A3BF-84F35254A49B}"/>
          </ac:spMkLst>
        </pc:spChg>
      </pc:sldChg>
    </pc:docChg>
  </pc:docChgLst>
  <pc:docChgLst>
    <pc:chgData name="Lucas de Lima Meira" userId="4eaabed1-862e-40c9-899d-d6b2fa11abae" providerId="ADAL" clId="{3498AA25-E6CA-4455-867B-C93CD2F1C2BC}"/>
    <pc:docChg chg="modSld">
      <pc:chgData name="Lucas de Lima Meira" userId="4eaabed1-862e-40c9-899d-d6b2fa11abae" providerId="ADAL" clId="{3498AA25-E6CA-4455-867B-C93CD2F1C2BC}" dt="2026-04-15T15:51:32.765" v="42" actId="20577"/>
      <pc:docMkLst>
        <pc:docMk/>
      </pc:docMkLst>
      <pc:sldChg chg="modSp mod">
        <pc:chgData name="Lucas de Lima Meira" userId="4eaabed1-862e-40c9-899d-d6b2fa11abae" providerId="ADAL" clId="{3498AA25-E6CA-4455-867B-C93CD2F1C2BC}" dt="2026-04-15T13:55:51.700" v="4" actId="20577"/>
        <pc:sldMkLst>
          <pc:docMk/>
          <pc:sldMk cId="3484388544" sldId="2786"/>
        </pc:sldMkLst>
        <pc:spChg chg="mod">
          <ac:chgData name="Lucas de Lima Meira" userId="4eaabed1-862e-40c9-899d-d6b2fa11abae" providerId="ADAL" clId="{3498AA25-E6CA-4455-867B-C93CD2F1C2BC}" dt="2026-04-15T13:55:51.700" v="4" actId="20577"/>
          <ac:spMkLst>
            <pc:docMk/>
            <pc:sldMk cId="3484388544" sldId="2786"/>
            <ac:spMk id="8" creationId="{2F56E37D-8690-41B9-BD85-ECAC6378A6B2}"/>
          </ac:spMkLst>
        </pc:spChg>
      </pc:sldChg>
      <pc:sldChg chg="modSp mod">
        <pc:chgData name="Lucas de Lima Meira" userId="4eaabed1-862e-40c9-899d-d6b2fa11abae" providerId="ADAL" clId="{3498AA25-E6CA-4455-867B-C93CD2F1C2BC}" dt="2026-04-15T15:51:32.765" v="42" actId="20577"/>
        <pc:sldMkLst>
          <pc:docMk/>
          <pc:sldMk cId="976999862" sldId="2931"/>
        </pc:sldMkLst>
        <pc:spChg chg="mod">
          <ac:chgData name="Lucas de Lima Meira" userId="4eaabed1-862e-40c9-899d-d6b2fa11abae" providerId="ADAL" clId="{3498AA25-E6CA-4455-867B-C93CD2F1C2BC}" dt="2026-04-15T15:51:32.765" v="42" actId="20577"/>
          <ac:spMkLst>
            <pc:docMk/>
            <pc:sldMk cId="976999862" sldId="2931"/>
            <ac:spMk id="12" creationId="{D032580B-1D73-E7C9-DC1F-01CB244F71EC}"/>
          </ac:spMkLst>
        </pc:spChg>
      </pc:sldChg>
    </pc:docChg>
  </pc:docChgLst>
</pc:chgInfo>
</file>

<file path=ppt/comments/modernComment_B94_470EAB4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110FAA-596C-483D-A8F7-670640AD61CB}" authorId="{067B68E9-309A-E128-2F97-A8F184AB782B}" created="2026-04-15T11:55:42.4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92143681" sldId="2964"/>
      <ac:spMk id="3" creationId="{A09FFFAE-8DD9-B610-B9D7-EA6069E8FF87}"/>
    </ac:deMkLst>
    <p188:txBody>
      <a:bodyPr/>
      <a:lstStyle/>
      <a:p>
        <a:r>
          <a:rPr lang="en-US"/>
          <a:t>Should we not add a round operation first instead of casting 3.9999 to 3?</a:t>
        </a:r>
      </a:p>
    </p188:txBody>
  </p188:cm>
  <p188:cm id="{26F6B5AB-66AB-4CD4-BCB8-E677B934EBD1}" authorId="{067B68E9-309A-E128-2F97-A8F184AB782B}" created="2026-04-15T11:56:09.32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192143681" sldId="2964"/>
      <ac:spMk id="4" creationId="{678D6D61-FB98-1233-3938-D67C395C54D2}"/>
    </ac:deMkLst>
    <p188:txBody>
      <a:bodyPr/>
      <a:lstStyle/>
      <a:p>
        <a:r>
          <a:rPr lang="en-US"/>
          <a:t>Quite detailed for ppl that only know about types for one lesson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Graphik Regular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-128"/>
              </a:defRPr>
            </a:lvl1pPr>
          </a:lstStyle>
          <a:p>
            <a:pPr>
              <a:defRPr/>
            </a:pPr>
            <a:fld id="{5E4C7717-A413-48EB-9E74-9CC8DF624EC2}" type="datetime1">
              <a:rPr lang="en-US">
                <a:latin typeface="Graphik Regular" panose="020B0503030202060203" pitchFamily="34" charset="77"/>
                <a:cs typeface="Arial" panose="020B0604020202020204" pitchFamily="34" charset="0"/>
              </a:rPr>
              <a:pPr>
                <a:defRPr/>
              </a:pPr>
              <a:t>4/15/2026</a:t>
            </a:fld>
            <a:endParaRPr lang="en-US" dirty="0">
              <a:latin typeface="Graphik Regular" panose="020B0503030202060203" pitchFamily="34" charset="77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Graphik Regular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-128"/>
              </a:defRPr>
            </a:lvl1pPr>
          </a:lstStyle>
          <a:p>
            <a:pPr>
              <a:defRPr/>
            </a:pPr>
            <a:fld id="{311B6921-662F-4705-A734-0B75ECCE1C4E}" type="slidenum">
              <a:rPr lang="en-US">
                <a:latin typeface="Graphik Regular" panose="020B0503030202060203" pitchFamily="34" charset="77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Graphik Regular" panose="020B0503030202060203" pitchFamily="34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7231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 i="0">
                <a:latin typeface="Graphik Regular" panose="020B0503030202060203" pitchFamily="34" charset="77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Graphik Regular" panose="020B0503030202060203" pitchFamily="34" charset="7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612C19A-B064-4A02-B1DD-2674A5B33712}" type="datetime1">
              <a:rPr lang="en-US" smtClean="0"/>
              <a:pPr>
                <a:defRPr/>
              </a:pPr>
              <a:t>4/15/2026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r>
              <a:rPr lang="en-GB" noProof="0" dirty="0" err="1"/>
              <a:t>Rj</a:t>
            </a:r>
            <a:r>
              <a:rPr lang="en-GB" noProof="0" dirty="0"/>
              <a:t> k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 i="0">
                <a:latin typeface="Graphik Regular" panose="020B0503030202060203" pitchFamily="34" charset="77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latin typeface="Graphik Regular" panose="020B0503030202060203" pitchFamily="34" charset="7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E57817C-C749-40AE-A5FD-F6A74744A7F9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59062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600" b="0" i="0" kern="1200">
        <a:solidFill>
          <a:schemeClr val="tx1"/>
        </a:solidFill>
        <a:latin typeface="Graphik Regular" panose="020B0503030202060203" pitchFamily="34" charset="77"/>
        <a:ea typeface="Roboto" panose="02000000000000000000" pitchFamily="2" charset="0"/>
        <a:cs typeface="Arial" panose="020B0604020202020204" pitchFamily="34" charset="0"/>
      </a:defRPr>
    </a:lvl1pPr>
    <a:lvl2pPr marL="609443" algn="l" rtl="0" eaLnBrk="0" fontAlgn="base" hangingPunct="0">
      <a:spcBef>
        <a:spcPct val="30000"/>
      </a:spcBef>
      <a:spcAft>
        <a:spcPct val="0"/>
      </a:spcAft>
      <a:defRPr sz="1600" b="0" i="0" kern="1200">
        <a:solidFill>
          <a:schemeClr val="tx1"/>
        </a:solidFill>
        <a:latin typeface="Graphik Regular" panose="020B0503030202060203" pitchFamily="34" charset="77"/>
        <a:ea typeface="Roboto" panose="02000000000000000000" pitchFamily="2" charset="0"/>
        <a:cs typeface="+mn-cs"/>
      </a:defRPr>
    </a:lvl2pPr>
    <a:lvl3pPr marL="1218885" algn="l" rtl="0" eaLnBrk="0" fontAlgn="base" hangingPunct="0">
      <a:spcBef>
        <a:spcPct val="30000"/>
      </a:spcBef>
      <a:spcAft>
        <a:spcPct val="0"/>
      </a:spcAft>
      <a:defRPr sz="1600" b="0" i="0" kern="1200">
        <a:solidFill>
          <a:schemeClr val="tx1"/>
        </a:solidFill>
        <a:latin typeface="Graphik Regular" panose="020B0503030202060203" pitchFamily="34" charset="77"/>
        <a:ea typeface="Roboto" panose="02000000000000000000" pitchFamily="2" charset="0"/>
        <a:cs typeface="+mn-cs"/>
      </a:defRPr>
    </a:lvl3pPr>
    <a:lvl4pPr marL="1828328" algn="l" rtl="0" eaLnBrk="0" fontAlgn="base" hangingPunct="0">
      <a:spcBef>
        <a:spcPct val="30000"/>
      </a:spcBef>
      <a:spcAft>
        <a:spcPct val="0"/>
      </a:spcAft>
      <a:defRPr sz="1600" b="0" i="0" kern="1200">
        <a:solidFill>
          <a:schemeClr val="tx1"/>
        </a:solidFill>
        <a:latin typeface="Graphik Regular" panose="020B0503030202060203" pitchFamily="34" charset="77"/>
        <a:ea typeface="Roboto" panose="02000000000000000000" pitchFamily="2" charset="0"/>
        <a:cs typeface="+mn-cs"/>
      </a:defRPr>
    </a:lvl4pPr>
    <a:lvl5pPr marL="2437771" algn="l" rtl="0" eaLnBrk="0" fontAlgn="base" hangingPunct="0">
      <a:spcBef>
        <a:spcPct val="30000"/>
      </a:spcBef>
      <a:spcAft>
        <a:spcPct val="0"/>
      </a:spcAft>
      <a:defRPr sz="1600" b="0" i="0" kern="1200">
        <a:solidFill>
          <a:schemeClr val="tx1"/>
        </a:solidFill>
        <a:latin typeface="Graphik Regular" panose="020B0503030202060203" pitchFamily="34" charset="77"/>
        <a:ea typeface="Roboto" panose="02000000000000000000" pitchFamily="2" charset="0"/>
        <a:cs typeface="+mn-cs"/>
      </a:defRPr>
    </a:lvl5pPr>
    <a:lvl6pPr marL="3047213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193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159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Comparisons: == != &gt; &gt;= &lt; &lt;=	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350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Comparisons: == != &gt; &gt;= &lt; &lt;=	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5960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0194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43628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3AF1-BEFC-C905-D4F8-155FBCF3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C7283-528A-4F3E-7CDE-2A15A305C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5D2E93-526C-DA07-719A-C0C76218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Comparisons: == != &gt; &gt;= &lt; &lt;=	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5706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Comparisons: == != &gt; &gt;= &lt; &lt;=	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20717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3456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81314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4315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67903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4549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2182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9246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05347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166075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5196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02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404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734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372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6BD5A-A21E-4AF9-9A46-1CB273D3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115B4-9DA3-7779-675A-E94F5CE19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37E00-941B-B6BC-9C86-F6F6F1298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19016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if/</a:t>
            </a:r>
            <a:r>
              <a:rPr lang="en-US" dirty="0" err="1"/>
              <a:t>elif</a:t>
            </a:r>
            <a:r>
              <a:rPr lang="en-US"/>
              <a:t>/else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40968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if/</a:t>
            </a:r>
            <a:r>
              <a:rPr lang="en-US" dirty="0" err="1"/>
              <a:t>elif</a:t>
            </a:r>
            <a:r>
              <a:rPr lang="en-US" dirty="0"/>
              <a:t>/else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53861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if/</a:t>
            </a:r>
            <a:r>
              <a:rPr lang="en-US" dirty="0" err="1"/>
              <a:t>elif</a:t>
            </a:r>
            <a:r>
              <a:rPr lang="en-US" dirty="0"/>
              <a:t>/else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661254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if/</a:t>
            </a:r>
            <a:r>
              <a:rPr lang="en-US" dirty="0" err="1"/>
              <a:t>elif</a:t>
            </a:r>
            <a:r>
              <a:rPr lang="en-US" dirty="0"/>
              <a:t>/else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133353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ECECEC"/>
                </a:solidFill>
                <a:effectLst/>
                <a:latin typeface="Söhne Mono"/>
              </a:rPr>
              <a:t>Modified list: </a:t>
            </a:r>
            <a:r>
              <a:rPr lang="en-US" b="0" i="0" dirty="0">
                <a:solidFill>
                  <a:srgbClr val="ECECEC"/>
                </a:solidFill>
                <a:effectLst/>
                <a:latin typeface="Söhne Mono"/>
              </a:rPr>
              <a:t>[10, 15, 30, 25]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4152048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07AC99-168A-4EC5-8E0A-C296FC97BAA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3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.2 — Gradient &gt;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626" y="541511"/>
            <a:ext cx="3428874" cy="527679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85" y="551541"/>
            <a:ext cx="3441915" cy="51898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2898" y="541834"/>
            <a:ext cx="3427602" cy="528604"/>
          </a:xfrm>
          <a:prstGeom prst="rect">
            <a:avLst/>
          </a:prstGeom>
        </p:spPr>
      </p:pic>
      <p:sp>
        <p:nvSpPr>
          <p:cNvPr id="20" name="SubTitle">
            <a:extLst>
              <a:ext uri="{FF2B5EF4-FFF2-40B4-BE49-F238E27FC236}">
                <a16:creationId xmlns:a16="http://schemas.microsoft.com/office/drawing/2014/main" id="{411A10A5-1429-2645-B7F9-F3DE2EC65F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928" y="2799882"/>
            <a:ext cx="8782137" cy="652486"/>
          </a:xfrm>
        </p:spPr>
        <p:txBody>
          <a:bodyPr wrap="square" tIns="91440" anchor="b">
            <a:spAutoFit/>
          </a:bodyPr>
          <a:lstStyle>
            <a:lvl1pPr marL="0" indent="0">
              <a:lnSpc>
                <a:spcPct val="70000"/>
              </a:lnSpc>
              <a:buNone/>
              <a:defRPr sz="5197" b="0" i="0" cap="all" spc="-50" baseline="0">
                <a:solidFill>
                  <a:schemeClr val="tx1"/>
                </a:solidFill>
                <a:latin typeface="Graphik Black" panose="020B0503030202060203" pitchFamily="34" charset="77"/>
              </a:defRPr>
            </a:lvl1pPr>
          </a:lstStyle>
          <a:p>
            <a:pPr lvl="0"/>
            <a:r>
              <a:rPr lang="en-US" dirty="0"/>
              <a:t>small top headline</a:t>
            </a:r>
          </a:p>
        </p:txBody>
      </p:sp>
      <p:sp>
        <p:nvSpPr>
          <p:cNvPr id="21" name="MasterTitle">
            <a:extLst>
              <a:ext uri="{FF2B5EF4-FFF2-40B4-BE49-F238E27FC236}">
                <a16:creationId xmlns:a16="http://schemas.microsoft.com/office/drawing/2014/main" id="{9747B2FE-49CC-EF4B-B4FB-B60350350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28" y="3512224"/>
            <a:ext cx="8782137" cy="2354491"/>
          </a:xfrm>
        </p:spPr>
        <p:txBody>
          <a:bodyPr wrap="square" tIns="91440" anchor="t">
            <a:spAutoFit/>
          </a:bodyPr>
          <a:lstStyle>
            <a:lvl1pPr algn="l">
              <a:lnSpc>
                <a:spcPct val="70000"/>
              </a:lnSpc>
              <a:defRPr sz="10494" b="0" i="0" spc="-7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large long headline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2475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.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DD0A3B-9884-7841-9535-E00819DE3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005" y="296932"/>
            <a:ext cx="7323730" cy="1502286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en-US" b="0" i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itchFamily="34" charset="0"/>
              <a:buNone/>
            </a:pPr>
            <a:r>
              <a:rPr lang="en-US" dirty="0"/>
              <a:t>INSERT MAIN TITLE </a:t>
            </a:r>
            <a:br>
              <a:rPr lang="en-US" dirty="0"/>
            </a:br>
            <a:r>
              <a:rPr lang="en-US" dirty="0"/>
              <a:t>AT 36PT MIN 30PT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F774418-74AB-45C9-B540-8E1BAFB9EB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6092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Key Point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6B3302-79C9-47DD-926E-80E1C84AEE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3619" y="0"/>
            <a:ext cx="6093619" cy="6859588"/>
          </a:xfrm>
          <a:prstGeom prst="rect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108000" tIns="108000" rIns="0" anchor="ctr"/>
          <a:lstStyle>
            <a:lvl1pPr algn="ctr">
              <a:defRPr b="0" i="0"/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C179F55-0D70-4F48-9D19-7DFD781860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141955"/>
            <a:ext cx="4991100" cy="309654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600" b="1" i="0" cap="all" baseline="0" dirty="0">
                <a:solidFill>
                  <a:schemeClr val="accent1"/>
                </a:solidFill>
                <a:latin typeface="Graphik" panose="020B0503030202060203" pitchFamily="34" charset="77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dirty="0"/>
              <a:t>SUBTITLE IF NEEDED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F062C9B-5771-2C48-9EA3-426CA69F05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 flipH="1">
            <a:off x="11612463" y="6538988"/>
            <a:ext cx="216000" cy="161925"/>
          </a:xfrm>
        </p:spPr>
        <p:txBody>
          <a:bodyPr/>
          <a:lstStyle>
            <a:lvl1pPr>
              <a:defRPr>
                <a:latin typeface="Graphik" panose="020B0503030202060203" pitchFamily="34" charset="77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4C0E468-D58C-D348-99FC-7334F71A6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914" y="3589106"/>
            <a:ext cx="4991100" cy="932094"/>
          </a:xfrm>
        </p:spPr>
        <p:txBody>
          <a:bodyPr/>
          <a:lstStyle>
            <a:lvl1pPr>
              <a:defRPr sz="1400" b="0" i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id </a:t>
            </a:r>
            <a:r>
              <a:rPr lang="en-US" dirty="0" err="1"/>
              <a:t>elit</a:t>
            </a:r>
            <a:r>
              <a:rPr lang="en-US" dirty="0"/>
              <a:t> non mi porta gravida at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Maecenas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non magna.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vitae </a:t>
            </a:r>
            <a:r>
              <a:rPr lang="en-US" dirty="0" err="1"/>
              <a:t>elit</a:t>
            </a:r>
            <a:r>
              <a:rPr lang="en-US" dirty="0"/>
              <a:t> libero, a pharetra </a:t>
            </a:r>
            <a:r>
              <a:rPr lang="en-US" dirty="0" err="1"/>
              <a:t>augue</a:t>
            </a:r>
            <a:r>
              <a:rPr lang="en-US" dirty="0"/>
              <a:t>. Maecenas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3AEEF4D-E0B8-3E4B-BEB1-FFFDE31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005" y="626871"/>
            <a:ext cx="5009008" cy="1502286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en-US" b="0" i="0">
                <a:ea typeface="Roboto" panose="02000000000000000000" pitchFamily="2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itchFamily="34" charset="0"/>
              <a:buNone/>
            </a:pPr>
            <a:r>
              <a:rPr lang="en-US" dirty="0"/>
              <a:t>INSERT MAIN TITLE </a:t>
            </a:r>
            <a:br>
              <a:rPr lang="en-US" dirty="0"/>
            </a:br>
            <a:r>
              <a:rPr lang="en-US" dirty="0"/>
              <a:t>AT 36PT MIN 30PT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0B9F5FB-DCF2-4305-8D08-4D609D89A9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7416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.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626" y="541510"/>
            <a:ext cx="3428874" cy="527679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85" y="551541"/>
            <a:ext cx="3441915" cy="51898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2898" y="541834"/>
            <a:ext cx="3427602" cy="528604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2463" y="6538988"/>
            <a:ext cx="216000" cy="161925"/>
          </a:xfrm>
        </p:spPr>
        <p:txBody>
          <a:bodyPr/>
          <a:lstStyle>
            <a:lvl1pPr>
              <a:defRPr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6" name="Text Placeholder 45">
            <a:extLst>
              <a:ext uri="{FF2B5EF4-FFF2-40B4-BE49-F238E27FC236}">
                <a16:creationId xmlns:a16="http://schemas.microsoft.com/office/drawing/2014/main" id="{8031E14C-5117-A446-9A05-8417A3777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354" y="3448307"/>
            <a:ext cx="5271603" cy="987425"/>
          </a:xfrm>
        </p:spPr>
        <p:txBody>
          <a:bodyPr/>
          <a:lstStyle>
            <a:lvl1pPr>
              <a:lnSpc>
                <a:spcPct val="100000"/>
              </a:lnSpc>
              <a:defRPr sz="2800" b="0" i="0">
                <a:latin typeface="Graphik" panose="020B0503030202060203" pitchFamily="34" charset="77"/>
              </a:defRPr>
            </a:lvl1pPr>
          </a:lstStyle>
          <a:p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. Some text goes here.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ED74A2E-FDCF-6447-A560-EE24247F7F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8354" y="2652626"/>
            <a:ext cx="7395824" cy="850230"/>
          </a:xfrm>
        </p:spPr>
        <p:txBody>
          <a:bodyPr anchor="b">
            <a:noAutofit/>
          </a:bodyPr>
          <a:lstStyle>
            <a:lvl1pPr>
              <a:lnSpc>
                <a:spcPct val="70000"/>
              </a:lnSpc>
              <a:defRPr sz="6800" b="0" i="0">
                <a:latin typeface="Graphik Black" panose="020B0503030202060203" pitchFamily="34" charset="77"/>
              </a:defRPr>
            </a:lvl1pPr>
          </a:lstStyle>
          <a:p>
            <a:r>
              <a:rPr lang="en-US" dirty="0"/>
              <a:t>INTRODUCTION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8961CBDE-7B62-4DD5-A29B-7B54DC6615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46338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1 — Dimensional Pos &gt;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5ED93C-DF05-B042-8C88-90DB919330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8354" y="795690"/>
            <a:ext cx="5555265" cy="1255063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800" b="0" i="0">
                <a:solidFill>
                  <a:schemeClr val="tx1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AU" dirty="0"/>
              <a:t>Title goes here in A few lines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6DA97E44-8B91-6D4F-82A9-C7EE7B5ABB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354" y="3172638"/>
            <a:ext cx="5271603" cy="987425"/>
          </a:xfrm>
        </p:spPr>
        <p:txBody>
          <a:bodyPr/>
          <a:lstStyle>
            <a:lvl1pPr>
              <a:lnSpc>
                <a:spcPct val="100000"/>
              </a:lnSpc>
              <a:defRPr sz="2800" b="0" i="0">
                <a:latin typeface="Graphik" panose="020B0503030202060203" pitchFamily="34" charset="77"/>
              </a:defRPr>
            </a:lvl1pPr>
          </a:lstStyle>
          <a:p>
            <a:r>
              <a:rPr lang="en-AU" dirty="0"/>
              <a:t>Subtitle goes here in few lines, and it’s always good to keep it short.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D00019C-87E7-8E4F-A3B8-A81C6A7774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8354" y="5141577"/>
            <a:ext cx="3147572" cy="655637"/>
          </a:xfrm>
        </p:spPr>
        <p:txBody>
          <a:bodyPr/>
          <a:lstStyle>
            <a:lvl1pPr>
              <a:lnSpc>
                <a:spcPct val="100000"/>
              </a:lnSpc>
              <a:defRPr sz="2000" b="0" i="0"/>
            </a:lvl1pPr>
          </a:lstStyle>
          <a:p>
            <a:r>
              <a:rPr lang="en-US" dirty="0"/>
              <a:t>Secondary copy goes here if you need to add more text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BC9632CA-71A4-4807-8A5F-BC52383AD5E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0374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GULAR sLID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2323413" y="1"/>
            <a:ext cx="2196000" cy="6859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mpd="sng">
            <a:noFill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t">
            <a:noAutofit/>
          </a:bodyPr>
          <a:lstStyle/>
          <a:p>
            <a:pPr lv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0000"/>
                </a:solidFill>
              </a:rPr>
              <a:t>IMAGE</a:t>
            </a:r>
            <a:r>
              <a:rPr lang="en-US" sz="1050" b="1" baseline="0" dirty="0">
                <a:solidFill>
                  <a:srgbClr val="000000"/>
                </a:solidFill>
              </a:rPr>
              <a:t> INSTRUCTIONS</a:t>
            </a:r>
            <a:endParaRPr lang="en-US" sz="1050" b="1" dirty="0">
              <a:solidFill>
                <a:srgbClr val="000000"/>
              </a:solidFill>
            </a:endParaRPr>
          </a:p>
          <a:p>
            <a:pPr marL="122238" lvl="0" indent="-122238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In Normal View (not Slide Sorter View) Click on the image</a:t>
            </a:r>
          </a:p>
          <a:p>
            <a:pPr marL="122238" lvl="0" indent="-122238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Copy</a:t>
            </a:r>
            <a:r>
              <a:rPr lang="en-US" sz="900" baseline="0" dirty="0">
                <a:solidFill>
                  <a:srgbClr val="000000"/>
                </a:solidFill>
              </a:rPr>
              <a:t> the IMAGE ONLY </a:t>
            </a:r>
            <a:br>
              <a:rPr lang="en-US" sz="900" baseline="0" dirty="0">
                <a:solidFill>
                  <a:srgbClr val="000000"/>
                </a:solidFill>
              </a:rPr>
            </a:br>
            <a:r>
              <a:rPr lang="en-US" sz="900" baseline="0" dirty="0">
                <a:solidFill>
                  <a:srgbClr val="000000"/>
                </a:solidFill>
              </a:rPr>
              <a:t>(and not the whole slide)</a:t>
            </a:r>
            <a:br>
              <a:rPr lang="en-US" sz="900" baseline="0" dirty="0">
                <a:solidFill>
                  <a:srgbClr val="000000"/>
                </a:solidFill>
              </a:rPr>
            </a:br>
            <a:r>
              <a:rPr lang="en-US" sz="900" b="1" baseline="0" dirty="0" err="1">
                <a:solidFill>
                  <a:srgbClr val="000000"/>
                </a:solidFill>
              </a:rPr>
              <a:t>Ctrl+C</a:t>
            </a:r>
            <a:r>
              <a:rPr lang="en-US" sz="900" b="1" baseline="0" dirty="0">
                <a:solidFill>
                  <a:srgbClr val="000000"/>
                </a:solidFill>
              </a:rPr>
              <a:t> or </a:t>
            </a:r>
            <a:r>
              <a:rPr lang="en-US" sz="900" b="1" baseline="0" dirty="0" err="1">
                <a:solidFill>
                  <a:srgbClr val="000000"/>
                </a:solidFill>
              </a:rPr>
              <a:t>Right-Click+Copy</a:t>
            </a:r>
            <a:endParaRPr lang="en-US" sz="900" baseline="0" dirty="0">
              <a:solidFill>
                <a:srgbClr val="000000"/>
              </a:solidFill>
            </a:endParaRPr>
          </a:p>
          <a:p>
            <a:pPr marL="122238" lvl="0" indent="-122238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baseline="0" dirty="0">
                <a:solidFill>
                  <a:srgbClr val="000000"/>
                </a:solidFill>
              </a:rPr>
              <a:t>Paste the image onto the appropriate layout in your new deck</a:t>
            </a:r>
          </a:p>
          <a:p>
            <a:pPr marL="122238" lvl="0" indent="-122238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baseline="0" dirty="0">
                <a:solidFill>
                  <a:srgbClr val="000000"/>
                </a:solidFill>
              </a:rPr>
              <a:t>Select </a:t>
            </a:r>
            <a:r>
              <a:rPr lang="en-US" sz="900" b="1" baseline="0" dirty="0">
                <a:solidFill>
                  <a:srgbClr val="000000"/>
                </a:solidFill>
              </a:rPr>
              <a:t>Send to Back</a:t>
            </a:r>
            <a:r>
              <a:rPr lang="en-US" sz="900" b="0" baseline="0" dirty="0">
                <a:solidFill>
                  <a:srgbClr val="000000"/>
                </a:solidFill>
              </a:rPr>
              <a:t> by either right-clicking on the image or by using the </a:t>
            </a:r>
            <a:r>
              <a:rPr lang="en-US" sz="900" b="0" i="1" baseline="0" dirty="0">
                <a:solidFill>
                  <a:srgbClr val="000000"/>
                </a:solidFill>
              </a:rPr>
              <a:t>Arrange</a:t>
            </a:r>
            <a:r>
              <a:rPr lang="en-US" sz="900" b="0" i="0" baseline="0" dirty="0">
                <a:solidFill>
                  <a:srgbClr val="000000"/>
                </a:solidFill>
              </a:rPr>
              <a:t> drop-down menu on the Home tab.</a:t>
            </a:r>
          </a:p>
          <a:p>
            <a:pPr marL="122238" lvl="0" indent="-122238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endParaRPr lang="en-US" sz="900" b="0" i="0" baseline="0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None/>
            </a:pPr>
            <a:r>
              <a:rPr lang="en-US" sz="900" b="0" i="0" baseline="0" dirty="0">
                <a:solidFill>
                  <a:srgbClr val="000000"/>
                </a:solidFill>
              </a:rPr>
              <a:t>Depending on the image you may/may not need to change the layout (</a:t>
            </a:r>
            <a:r>
              <a:rPr lang="en-US" sz="900" b="0" i="0" baseline="0" dirty="0" err="1">
                <a:solidFill>
                  <a:srgbClr val="000000"/>
                </a:solidFill>
              </a:rPr>
              <a:t>ie</a:t>
            </a:r>
            <a:r>
              <a:rPr lang="en-US" sz="900" b="0" i="0" baseline="0" dirty="0">
                <a:solidFill>
                  <a:srgbClr val="000000"/>
                </a:solidFill>
              </a:rPr>
              <a:t> light images require black text and darker images require white text). </a:t>
            </a:r>
          </a:p>
          <a:p>
            <a:pPr marL="0" lvl="0" indent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None/>
            </a:pPr>
            <a:r>
              <a:rPr lang="en-US" sz="900" b="0" i="0" baseline="0" dirty="0">
                <a:solidFill>
                  <a:srgbClr val="000000"/>
                </a:solidFill>
              </a:rPr>
              <a:t>To change the layout select the </a:t>
            </a:r>
            <a:r>
              <a:rPr lang="en-US" sz="900" b="0" i="1" baseline="0" dirty="0">
                <a:solidFill>
                  <a:srgbClr val="000000"/>
                </a:solidFill>
              </a:rPr>
              <a:t>Layout </a:t>
            </a:r>
            <a:r>
              <a:rPr lang="en-US" sz="900" b="0" i="0" baseline="0" dirty="0">
                <a:solidFill>
                  <a:srgbClr val="000000"/>
                </a:solidFill>
              </a:rPr>
              <a:t>drop-down from the Home</a:t>
            </a:r>
            <a:r>
              <a:rPr lang="en-US" sz="900" b="1" i="0" baseline="0" dirty="0">
                <a:solidFill>
                  <a:srgbClr val="000000"/>
                </a:solidFill>
              </a:rPr>
              <a:t> </a:t>
            </a:r>
            <a:r>
              <a:rPr lang="en-US" sz="900" b="0" i="0" baseline="0" dirty="0">
                <a:solidFill>
                  <a:srgbClr val="000000"/>
                </a:solidFill>
              </a:rPr>
              <a:t>tab. </a:t>
            </a:r>
          </a:p>
          <a:p>
            <a:pPr marL="0" lvl="0" indent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900" b="0" i="0" baseline="0" dirty="0">
                <a:solidFill>
                  <a:srgbClr val="000000"/>
                </a:solidFill>
              </a:rPr>
              <a:t>NOTE: some text/icons may need to be changed manually for legibility.</a:t>
            </a:r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Flowchart: Process 5"/>
          <p:cNvSpPr/>
          <p:nvPr userDrawn="1"/>
        </p:nvSpPr>
        <p:spPr>
          <a:xfrm>
            <a:off x="12323413" y="4572001"/>
            <a:ext cx="2196000" cy="2287588"/>
          </a:xfrm>
          <a:prstGeom prst="flowChartProcess">
            <a:avLst/>
          </a:prstGeom>
          <a:solidFill>
            <a:srgbClr val="FF0066"/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600" dirty="0">
                <a:solidFill>
                  <a:schemeClr val="bg1"/>
                </a:solidFill>
              </a:rPr>
              <a:t>Copy &amp; Paste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the image</a:t>
            </a:r>
            <a:r>
              <a:rPr lang="en-US" sz="1600" baseline="0" dirty="0">
                <a:solidFill>
                  <a:schemeClr val="bg1"/>
                </a:solidFill>
              </a:rPr>
              <a:t> onto </a:t>
            </a:r>
            <a:br>
              <a:rPr lang="en-US" sz="1600" baseline="0" dirty="0">
                <a:solidFill>
                  <a:schemeClr val="bg1"/>
                </a:solidFill>
              </a:rPr>
            </a:br>
            <a:r>
              <a:rPr lang="en-US" sz="1600" baseline="0" dirty="0">
                <a:solidFill>
                  <a:schemeClr val="bg1"/>
                </a:solidFill>
              </a:rPr>
              <a:t>a layout in your working deck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NOT THE ENTIRE SLIDE</a:t>
            </a:r>
            <a:endParaRPr lang="en-AU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5AD5C83-1221-4819-93B3-7B29CBE14FB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1A01DC09-0A41-4670-BE7A-1F843C5F20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531" y="927301"/>
            <a:ext cx="7319175" cy="134481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867B0A-2D67-4369-A549-E3659B06575D}"/>
              </a:ext>
            </a:extLst>
          </p:cNvPr>
          <p:cNvSpPr/>
          <p:nvPr userDrawn="1"/>
        </p:nvSpPr>
        <p:spPr>
          <a:xfrm>
            <a:off x="428531" y="1941816"/>
            <a:ext cx="3788022" cy="7731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defTabSz="913851">
              <a:lnSpc>
                <a:spcPct val="80000"/>
              </a:lnSpc>
            </a:pPr>
            <a:r>
              <a:rPr lang="en-US" sz="2798" dirty="0">
                <a:solidFill>
                  <a:srgbClr val="FFC100"/>
                </a:solidFill>
                <a:latin typeface="Graphik Black" panose="020B0503030202060203" pitchFamily="34" charset="77"/>
              </a:rPr>
              <a:t>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E6B79B-B468-48AD-9965-26BC9C22A47F}"/>
              </a:ext>
            </a:extLst>
          </p:cNvPr>
          <p:cNvCxnSpPr>
            <a:cxnSpLocks/>
          </p:cNvCxnSpPr>
          <p:nvPr userDrawn="1"/>
        </p:nvCxnSpPr>
        <p:spPr>
          <a:xfrm>
            <a:off x="430580" y="1704827"/>
            <a:ext cx="305896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5BF807-1092-450C-8B97-2A2A850FC3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531" y="2614613"/>
            <a:ext cx="7318375" cy="3025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4642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gula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80854" y="381089"/>
            <a:ext cx="8838242" cy="4449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/>
              <a:t>Regular slide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7F4A06-889F-43E8-9D80-F69883B54208}"/>
              </a:ext>
            </a:extLst>
          </p:cNvPr>
          <p:cNvCxnSpPr>
            <a:cxnSpLocks/>
          </p:cNvCxnSpPr>
          <p:nvPr userDrawn="1"/>
        </p:nvCxnSpPr>
        <p:spPr>
          <a:xfrm>
            <a:off x="256209" y="1082033"/>
            <a:ext cx="11613321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B0E574-56BE-4F7B-96A1-23A8AF271E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0" y="1762125"/>
            <a:ext cx="8789988" cy="3132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567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de 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80854" y="938520"/>
            <a:ext cx="5712768" cy="298350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598" b="1" cap="all" baseline="0">
                <a:latin typeface="Graphik Light" panose="020B0403030202060203" pitchFamily="34" charset="0"/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597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398" cap="all" baseline="0">
                <a:latin typeface="+mj-lt"/>
              </a:defRPr>
            </a:lvl3pPr>
          </a:lstStyle>
          <a:p>
            <a:pPr lvl="0"/>
            <a:r>
              <a:rPr lang="en-US" dirty="0"/>
              <a:t>This is the detailed subject</a:t>
            </a:r>
          </a:p>
          <a:p>
            <a:pPr lvl="1"/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80854" y="381089"/>
            <a:ext cx="8838242" cy="4449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THIS is the main subject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5629135" y="1929352"/>
            <a:ext cx="6199328" cy="2590147"/>
          </a:xfrm>
        </p:spPr>
        <p:txBody>
          <a:bodyPr/>
          <a:lstStyle>
            <a:lvl1pPr>
              <a:defRPr/>
            </a:lvl1pPr>
            <a:lvl3pPr marL="513823" indent="-229952">
              <a:buFont typeface="Graphik" panose="020B0503030202060203" pitchFamily="34" charset="0"/>
              <a:buChar char="–"/>
              <a:defRPr/>
            </a:lvl3pPr>
            <a:lvl5pPr marL="856372" indent="-177618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Ask your questions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164-3149-4B72-BE3D-1563307A8E1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0432" y="1929352"/>
            <a:ext cx="4659086" cy="357017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Put the code block here</a:t>
            </a:r>
            <a:endParaRPr lang="nl-NL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D24D23-7214-4041-82E1-1151D20EF49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996644" y="5009094"/>
            <a:ext cx="5383041" cy="11816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Put the answer here</a:t>
            </a: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7F4A06-889F-43E8-9D80-F69883B54208}"/>
              </a:ext>
            </a:extLst>
          </p:cNvPr>
          <p:cNvCxnSpPr>
            <a:cxnSpLocks/>
          </p:cNvCxnSpPr>
          <p:nvPr userDrawn="1"/>
        </p:nvCxnSpPr>
        <p:spPr>
          <a:xfrm>
            <a:off x="256209" y="874643"/>
            <a:ext cx="11613321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93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Key Points 2.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6B3302-79C9-47DD-926E-80E1C84AEE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3619" y="3429794"/>
            <a:ext cx="6094680" cy="3429794"/>
          </a:xfrm>
          <a:prstGeom prst="rect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vert="horz" lIns="108000" tIns="108000" rIns="0" bIns="0" rtlCol="0" anchor="ctr">
            <a:noAutofit/>
          </a:bodyPr>
          <a:lstStyle>
            <a:lvl1pPr>
              <a:defRPr lang="en-AU" b="0" i="0" dirty="0"/>
            </a:lvl1pPr>
          </a:lstStyle>
          <a:p>
            <a:pPr lvl="0" algn="ctr"/>
            <a:r>
              <a:rPr lang="en-AU" dirty="0"/>
              <a:t>Insert picture here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CC2B1D72-4A20-4211-8697-CF58FA85EF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37325" y="823310"/>
            <a:ext cx="5207165" cy="65882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cap="all" baseline="0" dirty="0">
                <a:solidFill>
                  <a:schemeClr val="accent1"/>
                </a:solidFill>
                <a:latin typeface="Graphik" panose="020B0503030202060203" pitchFamily="34" charset="77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AU" dirty="0"/>
              <a:t>INSERT A MESSAGE HERE,</a:t>
            </a:r>
            <a:br>
              <a:rPr lang="en-AU" dirty="0"/>
            </a:br>
            <a:r>
              <a:rPr lang="en-AU" dirty="0"/>
              <a:t>MAX FEW LINES</a:t>
            </a:r>
            <a:endParaRPr lang="en-US" dirty="0"/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A7F704BD-FB15-4C94-B9D3-AE5072BC4A9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6092562" cy="3429794"/>
          </a:xfrm>
          <a:prstGeom prst="rect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vert="horz" lIns="108000" tIns="108000" rIns="0" bIns="0" rtlCol="0" anchor="ctr">
            <a:noAutofit/>
          </a:bodyPr>
          <a:lstStyle>
            <a:lvl1pPr>
              <a:defRPr lang="en-AU" b="0" i="0" dirty="0"/>
            </a:lvl1pPr>
          </a:lstStyle>
          <a:p>
            <a:pPr lvl="0" algn="ctr"/>
            <a:r>
              <a:rPr lang="en-AU" dirty="0"/>
              <a:t>Insert picture here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A76ED06-98C0-A145-8CA6-32E8B59F88D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 flipH="1">
            <a:off x="11612463" y="6538988"/>
            <a:ext cx="216000" cy="161925"/>
          </a:xfrm>
        </p:spPr>
        <p:txBody>
          <a:bodyPr/>
          <a:lstStyle>
            <a:lvl1pPr>
              <a:defRPr>
                <a:latin typeface="Graphik" panose="020B0503030202060203" pitchFamily="34" charset="77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8894B-341B-8C4C-B36E-6E2D445D2C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37325" y="1592263"/>
            <a:ext cx="5207000" cy="955675"/>
          </a:xfrm>
        </p:spPr>
        <p:txBody>
          <a:bodyPr/>
          <a:lstStyle>
            <a:lvl1pPr>
              <a:defRPr sz="1400" b="0" i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Vestibulum id ligula porta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semper.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lacinia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vestibulum. </a:t>
            </a:r>
            <a:r>
              <a:rPr lang="en-US" dirty="0" err="1"/>
              <a:t>Donec</a:t>
            </a:r>
            <a:r>
              <a:rPr lang="en-US" dirty="0"/>
              <a:t> id </a:t>
            </a:r>
            <a:r>
              <a:rPr lang="en-US" dirty="0" err="1"/>
              <a:t>elit</a:t>
            </a:r>
            <a:r>
              <a:rPr lang="en-US" dirty="0"/>
              <a:t> non mi porta gravida at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0C415B98-6F4B-C140-8EA6-8A67D2DCC7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7975" y="4219653"/>
            <a:ext cx="5207165" cy="658822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cap="all" baseline="0" dirty="0">
                <a:solidFill>
                  <a:schemeClr val="accent1"/>
                </a:solidFill>
                <a:latin typeface="Graphik" panose="020B0503030202060203" pitchFamily="34" charset="77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AU" dirty="0"/>
              <a:t>INSERT A MESSAGE HERE,</a:t>
            </a:r>
            <a:br>
              <a:rPr lang="en-AU" dirty="0"/>
            </a:br>
            <a:r>
              <a:rPr lang="en-AU" dirty="0"/>
              <a:t>MAX FEW LINES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B939305-5FE5-2142-B4C1-C1B7B73CE3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975" y="4988606"/>
            <a:ext cx="5207000" cy="955675"/>
          </a:xfrm>
        </p:spPr>
        <p:txBody>
          <a:bodyPr/>
          <a:lstStyle>
            <a:lvl1pPr>
              <a:defRPr sz="1400" b="0" i="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Vestibulum id ligula porta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semper.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lacinia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venenatis</a:t>
            </a:r>
            <a:r>
              <a:rPr lang="en-US" dirty="0"/>
              <a:t> vestibulum. </a:t>
            </a:r>
            <a:r>
              <a:rPr lang="en-US" dirty="0" err="1"/>
              <a:t>Donec</a:t>
            </a:r>
            <a:r>
              <a:rPr lang="en-US" dirty="0"/>
              <a:t> id </a:t>
            </a:r>
            <a:r>
              <a:rPr lang="en-US" dirty="0" err="1"/>
              <a:t>elit</a:t>
            </a:r>
            <a:r>
              <a:rPr lang="en-US" dirty="0"/>
              <a:t> non mi porta gravida at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30A8493B-2F42-497B-9F4A-123C4F8B79F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0355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.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65ED8D5-F7BD-D244-8E89-518DAA5C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612463" y="6538988"/>
            <a:ext cx="216000" cy="161925"/>
          </a:xfrm>
        </p:spPr>
        <p:txBody>
          <a:bodyPr/>
          <a:lstStyle>
            <a:lvl1pPr>
              <a:defRPr>
                <a:latin typeface="Graphik" panose="020B0503030202060203" pitchFamily="34" charset="77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17F5D-75B4-214F-897A-1071EDD47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005" y="296932"/>
            <a:ext cx="7323730" cy="1502286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en-US" b="0" i="0">
                <a:ea typeface="Roboto" panose="02000000000000000000" pitchFamily="2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itchFamily="34" charset="0"/>
              <a:buNone/>
            </a:pPr>
            <a:r>
              <a:rPr lang="en-US" dirty="0"/>
              <a:t>INSERT MAIN TITLE </a:t>
            </a:r>
            <a:br>
              <a:rPr lang="en-US" dirty="0"/>
            </a:br>
            <a:r>
              <a:rPr lang="en-US" dirty="0"/>
              <a:t>AT 36PT MIN 30PT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34E76B1-E518-46E7-B374-1B04699025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5936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4.2 — Gradient &gt;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626" y="541512"/>
            <a:ext cx="3428874" cy="527679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1285" y="551541"/>
            <a:ext cx="3441915" cy="51898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2898" y="541834"/>
            <a:ext cx="3427602" cy="528604"/>
          </a:xfrm>
          <a:prstGeom prst="rect">
            <a:avLst/>
          </a:prstGeom>
        </p:spPr>
      </p:pic>
      <p:sp>
        <p:nvSpPr>
          <p:cNvPr id="20" name="SubTitle">
            <a:extLst>
              <a:ext uri="{FF2B5EF4-FFF2-40B4-BE49-F238E27FC236}">
                <a16:creationId xmlns:a16="http://schemas.microsoft.com/office/drawing/2014/main" id="{411A10A5-1429-2645-B7F9-F3DE2EC65F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929" y="2799883"/>
            <a:ext cx="8782137" cy="652486"/>
          </a:xfrm>
        </p:spPr>
        <p:txBody>
          <a:bodyPr wrap="square" tIns="91440" anchor="b">
            <a:spAutoFit/>
          </a:bodyPr>
          <a:lstStyle>
            <a:lvl1pPr marL="0" indent="0">
              <a:lnSpc>
                <a:spcPct val="70000"/>
              </a:lnSpc>
              <a:buNone/>
              <a:defRPr sz="5194" b="0" i="0" cap="all" spc="-50" baseline="0">
                <a:solidFill>
                  <a:schemeClr val="tx1"/>
                </a:solidFill>
                <a:latin typeface="Graphik Black" panose="020B0503030202060203" pitchFamily="34" charset="77"/>
              </a:defRPr>
            </a:lvl1pPr>
          </a:lstStyle>
          <a:p>
            <a:pPr lvl="0"/>
            <a:r>
              <a:rPr lang="en-US" dirty="0"/>
              <a:t>small top headline</a:t>
            </a:r>
          </a:p>
        </p:txBody>
      </p:sp>
      <p:sp>
        <p:nvSpPr>
          <p:cNvPr id="21" name="MasterTitle">
            <a:extLst>
              <a:ext uri="{FF2B5EF4-FFF2-40B4-BE49-F238E27FC236}">
                <a16:creationId xmlns:a16="http://schemas.microsoft.com/office/drawing/2014/main" id="{9747B2FE-49CC-EF4B-B4FB-B60350350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29" y="3512224"/>
            <a:ext cx="8782137" cy="2354491"/>
          </a:xfrm>
        </p:spPr>
        <p:txBody>
          <a:bodyPr wrap="square" tIns="91440" anchor="t">
            <a:spAutoFit/>
          </a:bodyPr>
          <a:lstStyle>
            <a:lvl1pPr algn="l">
              <a:lnSpc>
                <a:spcPct val="70000"/>
              </a:lnSpc>
              <a:defRPr sz="10488" b="0" i="0" spc="-7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large long headline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3617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1.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3DD0A3B-9884-7841-9535-E00819DE3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005" y="296932"/>
            <a:ext cx="7323730" cy="1502286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en-US" b="0" i="0">
                <a:solidFill>
                  <a:schemeClr val="bg1"/>
                </a:solidFill>
                <a:ea typeface="Roboto" panose="02000000000000000000" pitchFamily="2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itchFamily="34" charset="0"/>
              <a:buNone/>
            </a:pPr>
            <a:r>
              <a:rPr lang="en-US" dirty="0"/>
              <a:t>INSERT MAIN TITLE </a:t>
            </a:r>
            <a:br>
              <a:rPr lang="en-US" dirty="0"/>
            </a:br>
            <a:r>
              <a:rPr lang="en-US" dirty="0"/>
              <a:t>AT 36PT MIN 30PT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F774418-74AB-45C9-B540-8E1BAFB9EB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6256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Key Point 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66B3302-79C9-47DD-926E-80E1C84AEE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3620" y="0"/>
            <a:ext cx="6093619" cy="6859588"/>
          </a:xfrm>
          <a:prstGeom prst="rect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108000" tIns="108000" rIns="0" anchor="ctr"/>
          <a:lstStyle>
            <a:lvl1pPr algn="ctr">
              <a:defRPr b="0" i="0"/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C179F55-0D70-4F48-9D19-7DFD781860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141955"/>
            <a:ext cx="4991100" cy="309654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599" b="1" i="0" cap="all" baseline="0" dirty="0">
                <a:solidFill>
                  <a:schemeClr val="accent1"/>
                </a:solidFill>
                <a:latin typeface="Graphik" panose="020B0503030202060203" pitchFamily="34" charset="77"/>
              </a:defRPr>
            </a:lvl1pPr>
          </a:lstStyle>
          <a:p>
            <a:pPr lvl="0">
              <a:lnSpc>
                <a:spcPct val="80000"/>
              </a:lnSpc>
              <a:spcBef>
                <a:spcPts val="0"/>
              </a:spcBef>
            </a:pPr>
            <a:r>
              <a:rPr lang="en-US" dirty="0"/>
              <a:t>SUBTITLE IF NEEDED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9F062C9B-5771-2C48-9EA3-426CA69F05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 flipH="1">
            <a:off x="11612463" y="6538988"/>
            <a:ext cx="216000" cy="161925"/>
          </a:xfrm>
        </p:spPr>
        <p:txBody>
          <a:bodyPr/>
          <a:lstStyle>
            <a:lvl1pPr>
              <a:defRPr>
                <a:latin typeface="Graphik" panose="020B0503030202060203" pitchFamily="34" charset="77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4C0E468-D58C-D348-99FC-7334F71A6B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2914" y="3589106"/>
            <a:ext cx="4991100" cy="932094"/>
          </a:xfrm>
        </p:spPr>
        <p:txBody>
          <a:bodyPr/>
          <a:lstStyle>
            <a:lvl1pPr>
              <a:defRPr sz="1399" b="0" i="0"/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en-US" dirty="0" err="1"/>
              <a:t>Donec</a:t>
            </a:r>
            <a:r>
              <a:rPr lang="en-US" dirty="0"/>
              <a:t> id </a:t>
            </a:r>
            <a:r>
              <a:rPr lang="en-US" dirty="0" err="1"/>
              <a:t>elit</a:t>
            </a:r>
            <a:r>
              <a:rPr lang="en-US" dirty="0"/>
              <a:t> non mi porta gravida at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Maecenas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non magna.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at </a:t>
            </a:r>
            <a:r>
              <a:rPr lang="en-US" dirty="0" err="1"/>
              <a:t>lobortis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vitae </a:t>
            </a:r>
            <a:r>
              <a:rPr lang="en-US" dirty="0" err="1"/>
              <a:t>elit</a:t>
            </a:r>
            <a:r>
              <a:rPr lang="en-US" dirty="0"/>
              <a:t> libero, a pharetra </a:t>
            </a:r>
            <a:r>
              <a:rPr lang="en-US" dirty="0" err="1"/>
              <a:t>augue</a:t>
            </a:r>
            <a:r>
              <a:rPr lang="en-US" dirty="0"/>
              <a:t>. Maecenas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faucibus</a:t>
            </a:r>
            <a:r>
              <a:rPr lang="en-US" dirty="0"/>
              <a:t> dolor </a:t>
            </a:r>
            <a:r>
              <a:rPr lang="en-US" dirty="0" err="1"/>
              <a:t>auctor</a:t>
            </a:r>
            <a:r>
              <a:rPr lang="en-US" dirty="0"/>
              <a:t>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3AEEF4D-E0B8-3E4B-BEB1-FFFDE31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005" y="626871"/>
            <a:ext cx="5009008" cy="1502286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en-US" b="0" i="0">
                <a:ea typeface="Roboto" panose="02000000000000000000" pitchFamily="2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itchFamily="34" charset="0"/>
              <a:buNone/>
            </a:pPr>
            <a:r>
              <a:rPr lang="en-US" dirty="0"/>
              <a:t>INSERT MAIN TITLE </a:t>
            </a:r>
            <a:br>
              <a:rPr lang="en-US" dirty="0"/>
            </a:br>
            <a:r>
              <a:rPr lang="en-US" dirty="0"/>
              <a:t>AT 36PT MIN 30PT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0B9F5FB-DCF2-4305-8D08-4D609D89A9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55535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.1 — Dimensional Pos &gt;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5ED93C-DF05-B042-8C88-90DB919330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8355" y="795691"/>
            <a:ext cx="5555265" cy="1255063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6796" b="0" i="0">
                <a:solidFill>
                  <a:schemeClr val="tx1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AU" dirty="0"/>
              <a:t>Title goes here in A few lines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6DA97E44-8B91-6D4F-82A9-C7EE7B5ABB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355" y="3172638"/>
            <a:ext cx="5271603" cy="987425"/>
          </a:xfrm>
        </p:spPr>
        <p:txBody>
          <a:bodyPr/>
          <a:lstStyle>
            <a:lvl1pPr>
              <a:lnSpc>
                <a:spcPct val="100000"/>
              </a:lnSpc>
              <a:defRPr sz="2798" b="0" i="0">
                <a:latin typeface="Graphik" panose="020B0503030202060203" pitchFamily="34" charset="77"/>
              </a:defRPr>
            </a:lvl1pPr>
          </a:lstStyle>
          <a:p>
            <a:r>
              <a:rPr lang="en-AU" dirty="0"/>
              <a:t>Subtitle goes here in few lines, and it’s always good to keep it short.</a:t>
            </a:r>
          </a:p>
        </p:txBody>
      </p:sp>
      <p:sp>
        <p:nvSpPr>
          <p:cNvPr id="9" name="Text Placeholder 48">
            <a:extLst>
              <a:ext uri="{FF2B5EF4-FFF2-40B4-BE49-F238E27FC236}">
                <a16:creationId xmlns:a16="http://schemas.microsoft.com/office/drawing/2014/main" id="{2D00019C-87E7-8E4F-A3B8-A81C6A7774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8354" y="5141578"/>
            <a:ext cx="3147572" cy="655637"/>
          </a:xfrm>
        </p:spPr>
        <p:txBody>
          <a:bodyPr/>
          <a:lstStyle>
            <a:lvl1pPr>
              <a:lnSpc>
                <a:spcPct val="100000"/>
              </a:lnSpc>
              <a:defRPr sz="1999" b="0" i="0"/>
            </a:lvl1pPr>
          </a:lstStyle>
          <a:p>
            <a:r>
              <a:rPr lang="en-US" dirty="0"/>
              <a:t>Secondary copy goes here if you need to add more text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BC9632CA-71A4-4807-8A5F-BC52383AD5E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693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GULAR sLIDE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2323413" y="2"/>
            <a:ext cx="2196000" cy="68595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mpd="sng">
            <a:noFill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1955" tIns="71955" rIns="71955" bIns="71955" rtlCol="0" anchor="t">
            <a:noAutofit/>
          </a:bodyPr>
          <a:lstStyle/>
          <a:p>
            <a:pPr lv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050" b="1" dirty="0">
                <a:solidFill>
                  <a:srgbClr val="000000"/>
                </a:solidFill>
              </a:rPr>
              <a:t>IMAGE</a:t>
            </a:r>
            <a:r>
              <a:rPr lang="en-US" sz="1050" b="1" baseline="0" dirty="0">
                <a:solidFill>
                  <a:srgbClr val="000000"/>
                </a:solidFill>
              </a:rPr>
              <a:t> INSTRUCTIONS</a:t>
            </a:r>
            <a:endParaRPr lang="en-US" sz="1050" b="1" dirty="0">
              <a:solidFill>
                <a:srgbClr val="000000"/>
              </a:solidFill>
            </a:endParaRPr>
          </a:p>
          <a:p>
            <a:pPr marL="122165" lvl="0" indent="-12216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In Normal View (not Slide Sorter View) Click on the image</a:t>
            </a:r>
          </a:p>
          <a:p>
            <a:pPr marL="122165" lvl="0" indent="-12216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Copy</a:t>
            </a:r>
            <a:r>
              <a:rPr lang="en-US" sz="900" baseline="0" dirty="0">
                <a:solidFill>
                  <a:srgbClr val="000000"/>
                </a:solidFill>
              </a:rPr>
              <a:t> the IMAGE ONLY </a:t>
            </a:r>
            <a:br>
              <a:rPr lang="en-US" sz="900" baseline="0" dirty="0">
                <a:solidFill>
                  <a:srgbClr val="000000"/>
                </a:solidFill>
              </a:rPr>
            </a:br>
            <a:r>
              <a:rPr lang="en-US" sz="900" baseline="0" dirty="0">
                <a:solidFill>
                  <a:srgbClr val="000000"/>
                </a:solidFill>
              </a:rPr>
              <a:t>(and not the whole slide)</a:t>
            </a:r>
            <a:br>
              <a:rPr lang="en-US" sz="900" baseline="0" dirty="0">
                <a:solidFill>
                  <a:srgbClr val="000000"/>
                </a:solidFill>
              </a:rPr>
            </a:br>
            <a:r>
              <a:rPr lang="en-US" sz="900" b="1" baseline="0" dirty="0" err="1">
                <a:solidFill>
                  <a:srgbClr val="000000"/>
                </a:solidFill>
              </a:rPr>
              <a:t>Ctrl+C</a:t>
            </a:r>
            <a:r>
              <a:rPr lang="en-US" sz="900" b="1" baseline="0" dirty="0">
                <a:solidFill>
                  <a:srgbClr val="000000"/>
                </a:solidFill>
              </a:rPr>
              <a:t> or </a:t>
            </a:r>
            <a:r>
              <a:rPr lang="en-US" sz="900" b="1" baseline="0" dirty="0" err="1">
                <a:solidFill>
                  <a:srgbClr val="000000"/>
                </a:solidFill>
              </a:rPr>
              <a:t>Right-Click+Copy</a:t>
            </a:r>
            <a:endParaRPr lang="en-US" sz="900" baseline="0" dirty="0">
              <a:solidFill>
                <a:srgbClr val="000000"/>
              </a:solidFill>
            </a:endParaRPr>
          </a:p>
          <a:p>
            <a:pPr marL="122165" lvl="0" indent="-12216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baseline="0" dirty="0">
                <a:solidFill>
                  <a:srgbClr val="000000"/>
                </a:solidFill>
              </a:rPr>
              <a:t>Paste the image onto the appropriate layout in your new deck</a:t>
            </a:r>
          </a:p>
          <a:p>
            <a:pPr marL="122165" lvl="0" indent="-12216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sz="900" baseline="0" dirty="0">
                <a:solidFill>
                  <a:srgbClr val="000000"/>
                </a:solidFill>
              </a:rPr>
              <a:t>Select </a:t>
            </a:r>
            <a:r>
              <a:rPr lang="en-US" sz="900" b="1" baseline="0" dirty="0">
                <a:solidFill>
                  <a:srgbClr val="000000"/>
                </a:solidFill>
              </a:rPr>
              <a:t>Send to Back</a:t>
            </a:r>
            <a:r>
              <a:rPr lang="en-US" sz="900" b="0" baseline="0" dirty="0">
                <a:solidFill>
                  <a:srgbClr val="000000"/>
                </a:solidFill>
              </a:rPr>
              <a:t> by either right-clicking on the image or by using the </a:t>
            </a:r>
            <a:r>
              <a:rPr lang="en-US" sz="900" b="0" i="1" baseline="0" dirty="0">
                <a:solidFill>
                  <a:srgbClr val="000000"/>
                </a:solidFill>
              </a:rPr>
              <a:t>Arrange</a:t>
            </a:r>
            <a:r>
              <a:rPr lang="en-US" sz="900" b="0" i="0" baseline="0" dirty="0">
                <a:solidFill>
                  <a:srgbClr val="000000"/>
                </a:solidFill>
              </a:rPr>
              <a:t> drop-down menu on the Home tab.</a:t>
            </a:r>
          </a:p>
          <a:p>
            <a:pPr marL="122165" lvl="0" indent="-122165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Char char="•"/>
            </a:pPr>
            <a:endParaRPr lang="en-US" sz="900" b="0" i="0" baseline="0" dirty="0">
              <a:solidFill>
                <a:srgbClr val="000000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None/>
            </a:pPr>
            <a:r>
              <a:rPr lang="en-US" sz="900" b="0" i="0" baseline="0" dirty="0">
                <a:solidFill>
                  <a:srgbClr val="000000"/>
                </a:solidFill>
              </a:rPr>
              <a:t>Depending on the image you may/may not need to change the layout (</a:t>
            </a:r>
            <a:r>
              <a:rPr lang="en-US" sz="900" b="0" i="0" baseline="0" dirty="0" err="1">
                <a:solidFill>
                  <a:srgbClr val="000000"/>
                </a:solidFill>
              </a:rPr>
              <a:t>ie</a:t>
            </a:r>
            <a:r>
              <a:rPr lang="en-US" sz="900" b="0" i="0" baseline="0" dirty="0">
                <a:solidFill>
                  <a:srgbClr val="000000"/>
                </a:solidFill>
              </a:rPr>
              <a:t> light images require black text and darker images require white text). </a:t>
            </a:r>
          </a:p>
          <a:p>
            <a:pPr marL="0" lvl="0" indent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charset="0"/>
              <a:buNone/>
            </a:pPr>
            <a:r>
              <a:rPr lang="en-US" sz="900" b="0" i="0" baseline="0" dirty="0">
                <a:solidFill>
                  <a:srgbClr val="000000"/>
                </a:solidFill>
              </a:rPr>
              <a:t>To change the layout select the </a:t>
            </a:r>
            <a:r>
              <a:rPr lang="en-US" sz="900" b="0" i="1" baseline="0" dirty="0">
                <a:solidFill>
                  <a:srgbClr val="000000"/>
                </a:solidFill>
              </a:rPr>
              <a:t>Layout </a:t>
            </a:r>
            <a:r>
              <a:rPr lang="en-US" sz="900" b="0" i="0" baseline="0" dirty="0">
                <a:solidFill>
                  <a:srgbClr val="000000"/>
                </a:solidFill>
              </a:rPr>
              <a:t>drop-down from the Home</a:t>
            </a:r>
            <a:r>
              <a:rPr lang="en-US" sz="900" b="1" i="0" baseline="0" dirty="0">
                <a:solidFill>
                  <a:srgbClr val="000000"/>
                </a:solidFill>
              </a:rPr>
              <a:t> </a:t>
            </a:r>
            <a:r>
              <a:rPr lang="en-US" sz="900" b="0" i="0" baseline="0" dirty="0">
                <a:solidFill>
                  <a:srgbClr val="000000"/>
                </a:solidFill>
              </a:rPr>
              <a:t>tab. </a:t>
            </a:r>
          </a:p>
          <a:p>
            <a:pPr marL="0" lvl="0" indent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900" b="0" i="0" baseline="0" dirty="0">
                <a:solidFill>
                  <a:srgbClr val="000000"/>
                </a:solidFill>
              </a:rPr>
              <a:t>NOTE: some text/icons may need to be changed manually for legibility.</a:t>
            </a:r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6" name="Flowchart: Process 5"/>
          <p:cNvSpPr/>
          <p:nvPr userDrawn="1"/>
        </p:nvSpPr>
        <p:spPr>
          <a:xfrm>
            <a:off x="12323413" y="4572001"/>
            <a:ext cx="2196000" cy="2287588"/>
          </a:xfrm>
          <a:prstGeom prst="flowChartProcess">
            <a:avLst/>
          </a:prstGeom>
          <a:solidFill>
            <a:srgbClr val="FF0066"/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599" dirty="0">
                <a:solidFill>
                  <a:schemeClr val="bg1"/>
                </a:solidFill>
              </a:rPr>
              <a:t>Copy &amp; Paste </a:t>
            </a:r>
            <a:br>
              <a:rPr lang="en-US" sz="1599" dirty="0">
                <a:solidFill>
                  <a:schemeClr val="bg1"/>
                </a:solidFill>
              </a:rPr>
            </a:br>
            <a:r>
              <a:rPr lang="en-US" sz="1599" dirty="0">
                <a:solidFill>
                  <a:schemeClr val="bg1"/>
                </a:solidFill>
              </a:rPr>
              <a:t>the image</a:t>
            </a:r>
            <a:r>
              <a:rPr lang="en-US" sz="1599" baseline="0" dirty="0">
                <a:solidFill>
                  <a:schemeClr val="bg1"/>
                </a:solidFill>
              </a:rPr>
              <a:t> onto </a:t>
            </a:r>
            <a:br>
              <a:rPr lang="en-US" sz="1599" baseline="0" dirty="0">
                <a:solidFill>
                  <a:schemeClr val="bg1"/>
                </a:solidFill>
              </a:rPr>
            </a:br>
            <a:r>
              <a:rPr lang="en-US" sz="1599" baseline="0" dirty="0">
                <a:solidFill>
                  <a:schemeClr val="bg1"/>
                </a:solidFill>
              </a:rPr>
              <a:t>a layout in your working deck</a:t>
            </a:r>
            <a:r>
              <a:rPr lang="en-US" sz="1599" dirty="0">
                <a:solidFill>
                  <a:schemeClr val="bg1"/>
                </a:solidFill>
              </a:rPr>
              <a:t>.</a:t>
            </a:r>
          </a:p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999" dirty="0">
                <a:solidFill>
                  <a:schemeClr val="bg1"/>
                </a:solidFill>
              </a:rPr>
              <a:t> </a:t>
            </a:r>
            <a:r>
              <a:rPr lang="en-US" sz="2399" b="1" dirty="0">
                <a:solidFill>
                  <a:schemeClr val="bg1"/>
                </a:solidFill>
                <a:latin typeface="Arial Black" panose="020B0A04020102020204" pitchFamily="34" charset="0"/>
              </a:rPr>
              <a:t>NOT THE ENTIRE SLIDE</a:t>
            </a:r>
            <a:endParaRPr lang="en-AU" sz="1999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5AD5C83-1221-4819-93B3-7B29CBE14FB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  <p:sp>
        <p:nvSpPr>
          <p:cNvPr id="7" name="Title 15">
            <a:extLst>
              <a:ext uri="{FF2B5EF4-FFF2-40B4-BE49-F238E27FC236}">
                <a16:creationId xmlns:a16="http://schemas.microsoft.com/office/drawing/2014/main" id="{1A01DC09-0A41-4670-BE7A-1F843C5F20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532" y="927301"/>
            <a:ext cx="7319175" cy="134481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867B0A-2D67-4369-A549-E3659B06575D}"/>
              </a:ext>
            </a:extLst>
          </p:cNvPr>
          <p:cNvSpPr/>
          <p:nvPr userDrawn="1"/>
        </p:nvSpPr>
        <p:spPr>
          <a:xfrm>
            <a:off x="428531" y="1941817"/>
            <a:ext cx="3788022" cy="7731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defTabSz="913303">
              <a:lnSpc>
                <a:spcPct val="80000"/>
              </a:lnSpc>
            </a:pPr>
            <a:r>
              <a:rPr lang="en-US" sz="2796" dirty="0">
                <a:solidFill>
                  <a:srgbClr val="FFC100"/>
                </a:solidFill>
                <a:latin typeface="Graphik Black" panose="020B0503030202060203" pitchFamily="34" charset="77"/>
              </a:rPr>
              <a:t>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E6B79B-B468-48AD-9965-26BC9C22A47F}"/>
              </a:ext>
            </a:extLst>
          </p:cNvPr>
          <p:cNvCxnSpPr>
            <a:cxnSpLocks/>
          </p:cNvCxnSpPr>
          <p:nvPr userDrawn="1"/>
        </p:nvCxnSpPr>
        <p:spPr>
          <a:xfrm>
            <a:off x="430580" y="1704827"/>
            <a:ext cx="3058960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5BF807-1092-450C-8B97-2A2A850FC3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532" y="2614614"/>
            <a:ext cx="7318375" cy="3025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4786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gula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80854" y="381089"/>
            <a:ext cx="8838242" cy="444963"/>
          </a:xfrm>
        </p:spPr>
        <p:txBody>
          <a:bodyPr/>
          <a:lstStyle>
            <a:lvl1pPr>
              <a:defRPr sz="4397"/>
            </a:lvl1pPr>
          </a:lstStyle>
          <a:p>
            <a:r>
              <a:rPr lang="en-US" dirty="0"/>
              <a:t>Regular slide 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7F4A06-889F-43E8-9D80-F69883B54208}"/>
              </a:ext>
            </a:extLst>
          </p:cNvPr>
          <p:cNvCxnSpPr>
            <a:cxnSpLocks/>
          </p:cNvCxnSpPr>
          <p:nvPr userDrawn="1"/>
        </p:nvCxnSpPr>
        <p:spPr>
          <a:xfrm>
            <a:off x="256210" y="1082033"/>
            <a:ext cx="11613321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B0E574-56BE-4F7B-96A1-23A8AF271E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1001" y="1762125"/>
            <a:ext cx="8789988" cy="3132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56391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de 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80854" y="938521"/>
            <a:ext cx="5712768" cy="298350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597" b="1" cap="all" baseline="0">
                <a:latin typeface="Graphik Light" panose="020B0403030202060203" pitchFamily="34" charset="0"/>
              </a:defRPr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595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397" cap="all" baseline="0">
                <a:latin typeface="+mj-lt"/>
              </a:defRPr>
            </a:lvl3pPr>
          </a:lstStyle>
          <a:p>
            <a:pPr lvl="0"/>
            <a:r>
              <a:rPr lang="en-US" dirty="0"/>
              <a:t>This is the detailed subject</a:t>
            </a:r>
          </a:p>
          <a:p>
            <a:pPr lvl="1"/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80854" y="381089"/>
            <a:ext cx="8838242" cy="4449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THIS is the main subject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 hasCustomPrompt="1"/>
          </p:nvPr>
        </p:nvSpPr>
        <p:spPr>
          <a:xfrm>
            <a:off x="5629135" y="1929353"/>
            <a:ext cx="6199328" cy="2590147"/>
          </a:xfrm>
        </p:spPr>
        <p:txBody>
          <a:bodyPr/>
          <a:lstStyle>
            <a:lvl1pPr>
              <a:defRPr/>
            </a:lvl1pPr>
            <a:lvl3pPr marL="513515" indent="-229814">
              <a:buFont typeface="Graphik" panose="020B0503030202060203" pitchFamily="34" charset="0"/>
              <a:buChar char="–"/>
              <a:defRPr/>
            </a:lvl3pPr>
            <a:lvl5pPr marL="855859" indent="-177511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Ask your questions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164-3149-4B72-BE3D-1563307A8E1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0432" y="1929353"/>
            <a:ext cx="4659086" cy="357017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Put the code block here</a:t>
            </a:r>
            <a:endParaRPr lang="nl-NL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ED24D23-7214-4041-82E1-1151D20EF49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996645" y="5009095"/>
            <a:ext cx="5383041" cy="11816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Put the answer here</a:t>
            </a:r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7F4A06-889F-43E8-9D80-F69883B54208}"/>
              </a:ext>
            </a:extLst>
          </p:cNvPr>
          <p:cNvCxnSpPr>
            <a:cxnSpLocks/>
          </p:cNvCxnSpPr>
          <p:nvPr userDrawn="1"/>
        </p:nvCxnSpPr>
        <p:spPr>
          <a:xfrm>
            <a:off x="256210" y="874643"/>
            <a:ext cx="11613321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6242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1.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65ED8D5-F7BD-D244-8E89-518DAA5C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612463" y="6538988"/>
            <a:ext cx="216000" cy="161925"/>
          </a:xfrm>
        </p:spPr>
        <p:txBody>
          <a:bodyPr/>
          <a:lstStyle>
            <a:lvl1pPr>
              <a:defRPr>
                <a:latin typeface="Graphik" panose="020B0503030202060203" pitchFamily="34" charset="77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17F5D-75B4-214F-897A-1071EDD47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005" y="296932"/>
            <a:ext cx="7323730" cy="1502286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Font typeface="Arial" pitchFamily="34" charset="0"/>
              <a:buNone/>
              <a:defRPr lang="en-US" b="0" i="0">
                <a:ea typeface="Roboto" panose="02000000000000000000" pitchFamily="2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itchFamily="34" charset="0"/>
              <a:buNone/>
            </a:pPr>
            <a:r>
              <a:rPr lang="en-US" dirty="0"/>
              <a:t>INSERT MAIN TITLE </a:t>
            </a:r>
            <a:br>
              <a:rPr lang="en-US" dirty="0"/>
            </a:br>
            <a:r>
              <a:rPr lang="en-US" dirty="0"/>
              <a:t>AT 36PT MIN 30PT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34E76B1-E518-46E7-B374-1B04699025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 dirty="0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11259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0234C-451D-4E7A-978E-9149C2295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269" y="1768010"/>
            <a:ext cx="5577821" cy="4295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8913FF3-5E8B-41AA-94A1-F4AA28FA51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4523" y="1768011"/>
            <a:ext cx="5577821" cy="4317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719E76-BEDC-463C-9517-95BA815C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BF4C524-AF94-4A80-8063-8388F54DC77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AU" dirty="0"/>
              <a:t>Copyright © 2019 Accenture. All rights reserved.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92DDDE-BB5A-4195-9F3F-CE3CFFE165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C1BBE33-A891-48E8-970C-4A8D55F96D5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72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1DECF-4A5B-46E3-96BE-99BCA85D43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 dirty="0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E4A18-7598-494B-AD35-4B65735C10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1BBE33-A891-48E8-970C-4A8D55F96D53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496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1284291"/>
            <a:ext cx="11469600" cy="46783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0" y="554400"/>
            <a:ext cx="11469600" cy="543601"/>
          </a:xfrm>
          <a:prstGeom prst="rect">
            <a:avLst/>
          </a:prstGeom>
        </p:spPr>
        <p:txBody>
          <a:bodyPr vert="horz" lIns="0" tIns="60944" rIns="0" bIns="0" rtlCol="0" anchor="t" anchorCtr="0">
            <a:normAutofit/>
          </a:bodyPr>
          <a:lstStyle/>
          <a:p>
            <a:pPr lvl="0"/>
            <a:r>
              <a:rPr lang="en-US" dirty="0"/>
              <a:t>INSERT MAIN TITLE AT 36PT MIN 30PT</a:t>
            </a:r>
            <a:endParaRPr lang="en-AU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 flipH="1">
            <a:off x="11612463" y="6538988"/>
            <a:ext cx="216000" cy="161925"/>
          </a:xfrm>
          <a:prstGeom prst="rect">
            <a:avLst/>
          </a:prstGeom>
        </p:spPr>
        <p:txBody>
          <a:bodyPr vert="horz" wrap="square" lIns="0" tIns="60944" rIns="0" bIns="60944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800" b="0" i="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388697" y="6538913"/>
            <a:ext cx="4140338" cy="162000"/>
          </a:xfrm>
          <a:prstGeom prst="rect">
            <a:avLst/>
          </a:prstGeom>
        </p:spPr>
        <p:txBody>
          <a:bodyPr vert="horz" wrap="square" lIns="0" tIns="60944" rIns="0" bIns="60944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lang="en-US" sz="800" b="0" i="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4" name="MSIPCMContentMarking" descr="{&quot;HashCode&quot;:1596673254,&quot;Placement&quot;:&quot;Footer&quot;,&quot;Top&quot;:524.2297,&quot;Left&quot;:923.452,&quot;SlideWidth&quot;:959,&quot;SlideHeight&quot;:540}">
            <a:extLst>
              <a:ext uri="{FF2B5EF4-FFF2-40B4-BE49-F238E27FC236}">
                <a16:creationId xmlns:a16="http://schemas.microsoft.com/office/drawing/2014/main" id="{D069DDA0-3019-119D-FB6E-46C47623C7B9}"/>
              </a:ext>
            </a:extLst>
          </p:cNvPr>
          <p:cNvSpPr txBox="1"/>
          <p:nvPr userDrawn="1"/>
        </p:nvSpPr>
        <p:spPr>
          <a:xfrm>
            <a:off x="11727841" y="6657717"/>
            <a:ext cx="459397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Public</a:t>
            </a:r>
            <a:endParaRPr lang="en-US" sz="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40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05" r:id="rId1"/>
    <p:sldLayoutId id="2147485306" r:id="rId2"/>
    <p:sldLayoutId id="2147485307" r:id="rId3"/>
    <p:sldLayoutId id="2147485308" r:id="rId4"/>
    <p:sldLayoutId id="2147485309" r:id="rId5"/>
    <p:sldLayoutId id="2147485310" r:id="rId6"/>
    <p:sldLayoutId id="2147485311" r:id="rId7"/>
    <p:sldLayoutId id="2147485312" r:id="rId8"/>
    <p:sldLayoutId id="2147485313" r:id="rId9"/>
    <p:sldLayoutId id="2147485314" r:id="rId10"/>
  </p:sldLayoutIdLst>
  <p:hf hd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3600" b="0" i="0" kern="1200" cap="all" spc="0" baseline="0" dirty="0" smtClean="0">
          <a:solidFill>
            <a:schemeClr val="tx1"/>
          </a:solidFill>
          <a:latin typeface="Graphik Black" panose="020B0503030202060203" pitchFamily="34" charset="77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6"/>
        </a:lnSpc>
        <a:spcBef>
          <a:spcPct val="0"/>
        </a:spcBef>
        <a:spcAft>
          <a:spcPct val="0"/>
        </a:spcAft>
        <a:buFont typeface="Arial" charset="0"/>
        <a:defRPr sz="32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443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885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8328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771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500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ts val="1200"/>
        </a:spcBef>
        <a:spcAft>
          <a:spcPct val="0"/>
        </a:spcAft>
        <a:buFont typeface="Arial" pitchFamily="34" charset="0"/>
        <a:buNone/>
        <a:defRPr sz="1800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1pPr>
      <a:lvl2pPr marL="216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•"/>
        <a:defRPr sz="1800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2pPr>
      <a:lvl3pPr marL="432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‒"/>
        <a:tabLst/>
        <a:defRPr sz="1800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3pPr>
      <a:lvl4pPr marL="612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•"/>
        <a:defRPr sz="1800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4pPr>
      <a:lvl5pPr marL="864000" indent="-216000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‒"/>
        <a:defRPr sz="1800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5pPr>
      <a:lvl6pPr marL="3351933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12188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12188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>
          <p15:clr>
            <a:srgbClr val="F26B43"/>
          </p15:clr>
        </p15:guide>
        <p15:guide id="2" pos="225">
          <p15:clr>
            <a:srgbClr val="F26B43"/>
          </p15:clr>
        </p15:guide>
        <p15:guide id="3" pos="7452">
          <p15:clr>
            <a:srgbClr val="F26B43"/>
          </p15:clr>
        </p15:guide>
        <p15:guide id="4" pos="1277">
          <p15:clr>
            <a:srgbClr val="F26B43"/>
          </p15:clr>
        </p15:guide>
        <p15:guide id="5" pos="1460">
          <p15:clr>
            <a:srgbClr val="F26B43"/>
          </p15:clr>
        </p15:guide>
        <p15:guide id="6" pos="2514">
          <p15:clr>
            <a:srgbClr val="F26B43"/>
          </p15:clr>
        </p15:guide>
        <p15:guide id="7" pos="2696">
          <p15:clr>
            <a:srgbClr val="F26B43"/>
          </p15:clr>
        </p15:guide>
        <p15:guide id="8" pos="3929">
          <p15:clr>
            <a:srgbClr val="F26B43"/>
          </p15:clr>
        </p15:guide>
        <p15:guide id="9" pos="3748">
          <p15:clr>
            <a:srgbClr val="F26B43"/>
          </p15:clr>
        </p15:guide>
        <p15:guide id="10" pos="4982">
          <p15:clr>
            <a:srgbClr val="F26B43"/>
          </p15:clr>
        </p15:guide>
        <p15:guide id="11" pos="5162">
          <p15:clr>
            <a:srgbClr val="F26B43"/>
          </p15:clr>
        </p15:guide>
        <p15:guide id="12" pos="6218">
          <p15:clr>
            <a:srgbClr val="F26B43"/>
          </p15:clr>
        </p15:guide>
        <p15:guide id="13" pos="6399">
          <p15:clr>
            <a:srgbClr val="F26B43"/>
          </p15:clr>
        </p15:guide>
        <p15:guide id="14" orient="horz" pos="807">
          <p15:clr>
            <a:srgbClr val="F26B43"/>
          </p15:clr>
        </p15:guide>
        <p15:guide id="15" orient="horz" pos="876">
          <p15:clr>
            <a:srgbClr val="F26B43"/>
          </p15:clr>
        </p15:guide>
        <p15:guide id="16" orient="horz" pos="4031">
          <p15:clr>
            <a:srgbClr val="F26B43"/>
          </p15:clr>
        </p15:guide>
        <p15:guide id="17" orient="horz" pos="597">
          <p15:clr>
            <a:srgbClr val="F26B43"/>
          </p15:clr>
        </p15:guide>
        <p15:guide id="18" orient="horz" pos="2435">
          <p15:clr>
            <a:srgbClr val="F26B43"/>
          </p15:clr>
        </p15:guide>
        <p15:guide id="19" orient="horz" pos="3756">
          <p15:clr>
            <a:srgbClr val="F26B43"/>
          </p15:clr>
        </p15:guide>
        <p15:guide id="20" orient="horz" pos="419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1284291"/>
            <a:ext cx="11469600" cy="46783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0" y="554401"/>
            <a:ext cx="11469600" cy="543601"/>
          </a:xfrm>
          <a:prstGeom prst="rect">
            <a:avLst/>
          </a:prstGeom>
        </p:spPr>
        <p:txBody>
          <a:bodyPr vert="horz" lIns="0" tIns="60944" rIns="0" bIns="0" rtlCol="0" anchor="t" anchorCtr="0">
            <a:normAutofit/>
          </a:bodyPr>
          <a:lstStyle/>
          <a:p>
            <a:pPr lvl="0"/>
            <a:r>
              <a:rPr lang="en-US" dirty="0"/>
              <a:t>INSERT MAIN TITLE AT 36PT MIN 30PT</a:t>
            </a:r>
            <a:endParaRPr lang="en-AU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 flipH="1">
            <a:off x="11612463" y="6538988"/>
            <a:ext cx="216000" cy="161925"/>
          </a:xfrm>
          <a:prstGeom prst="rect">
            <a:avLst/>
          </a:prstGeom>
        </p:spPr>
        <p:txBody>
          <a:bodyPr vert="horz" wrap="square" lIns="0" tIns="60944" rIns="0" bIns="60944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800" b="0" i="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7388697" y="6538913"/>
            <a:ext cx="4140338" cy="162000"/>
          </a:xfrm>
          <a:prstGeom prst="rect">
            <a:avLst/>
          </a:prstGeom>
        </p:spPr>
        <p:txBody>
          <a:bodyPr vert="horz" wrap="square" lIns="0" tIns="60944" rIns="0" bIns="60944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lang="en-US" sz="800" b="0" i="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</a:lstStyle>
          <a:p>
            <a:r>
              <a:rPr lang="en-US" dirty="0"/>
              <a:t>Copyright © 2018 Accenture. All rights reserved.</a:t>
            </a:r>
          </a:p>
        </p:txBody>
      </p:sp>
      <p:sp>
        <p:nvSpPr>
          <p:cNvPr id="4" name="MSIPCMContentMarking" descr="{&quot;HashCode&quot;:1596673254,&quot;Placement&quot;:&quot;Footer&quot;,&quot;Top&quot;:524.2297,&quot;Left&quot;:923.452,&quot;SlideWidth&quot;:959,&quot;SlideHeight&quot;:540}">
            <a:extLst>
              <a:ext uri="{FF2B5EF4-FFF2-40B4-BE49-F238E27FC236}">
                <a16:creationId xmlns:a16="http://schemas.microsoft.com/office/drawing/2014/main" id="{658D00FC-DAC4-1AFA-5EB9-BF06AE192AEE}"/>
              </a:ext>
            </a:extLst>
          </p:cNvPr>
          <p:cNvSpPr txBox="1"/>
          <p:nvPr userDrawn="1"/>
        </p:nvSpPr>
        <p:spPr>
          <a:xfrm>
            <a:off x="11727841" y="6657717"/>
            <a:ext cx="459397" cy="201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sz="700">
                <a:solidFill>
                  <a:srgbClr val="000000"/>
                </a:solidFill>
                <a:latin typeface="Arial" panose="020B0604020202020204" pitchFamily="34" charset="0"/>
              </a:rPr>
              <a:t>Public</a:t>
            </a:r>
            <a:endParaRPr lang="en-US" sz="7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12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64" r:id="rId1"/>
    <p:sldLayoutId id="2147485365" r:id="rId2"/>
    <p:sldLayoutId id="2147485366" r:id="rId3"/>
    <p:sldLayoutId id="2147485367" r:id="rId4"/>
    <p:sldLayoutId id="2147485368" r:id="rId5"/>
    <p:sldLayoutId id="2147485369" r:id="rId6"/>
    <p:sldLayoutId id="2147485370" r:id="rId7"/>
    <p:sldLayoutId id="2147485371" r:id="rId8"/>
    <p:sldLayoutId id="2147485372" r:id="rId9"/>
    <p:sldLayoutId id="2147485373" r:id="rId10"/>
  </p:sldLayoutIdLst>
  <p:hf hd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3598" b="0" i="0" kern="1200" cap="all" spc="0" baseline="0" dirty="0" smtClean="0">
          <a:solidFill>
            <a:schemeClr val="tx1"/>
          </a:solidFill>
          <a:latin typeface="Graphik Black" panose="020B0503030202060203" pitchFamily="34" charset="77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4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4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4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4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07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15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231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6308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ts val="1200"/>
        </a:spcBef>
        <a:spcAft>
          <a:spcPct val="0"/>
        </a:spcAft>
        <a:buFont typeface="Arial" pitchFamily="34" charset="0"/>
        <a:buNone/>
        <a:defRPr sz="1799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1pPr>
      <a:lvl2pPr marL="215871" indent="-215871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•"/>
        <a:defRPr sz="1799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2pPr>
      <a:lvl3pPr marL="431741" indent="-215871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‒"/>
        <a:tabLst/>
        <a:defRPr sz="1799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3pPr>
      <a:lvl4pPr marL="611633" indent="-215871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•"/>
        <a:defRPr sz="1799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4pPr>
      <a:lvl5pPr marL="863481" indent="-215871" algn="l" rtl="0" eaLnBrk="1" fontAlgn="base" hangingPunct="1">
        <a:lnSpc>
          <a:spcPct val="110000"/>
        </a:lnSpc>
        <a:spcBef>
          <a:spcPts val="800"/>
        </a:spcBef>
        <a:spcAft>
          <a:spcPct val="0"/>
        </a:spcAft>
        <a:buFont typeface="Arial" pitchFamily="34" charset="0"/>
        <a:buChar char="‒"/>
        <a:defRPr sz="1799" b="0" i="0" kern="1200">
          <a:solidFill>
            <a:schemeClr val="tx1"/>
          </a:solidFill>
          <a:latin typeface="Graphik Regular" panose="020B0503030202060203" pitchFamily="34" charset="77"/>
          <a:ea typeface="Roboto" panose="02000000000000000000" pitchFamily="2" charset="0"/>
          <a:cs typeface="Arial" panose="020B0604020202020204" pitchFamily="34" charset="0"/>
        </a:defRPr>
      </a:lvl5pPr>
      <a:lvl6pPr marL="3349922" indent="-304540" algn="l" defTabSz="1218154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9000" indent="-304540" algn="l" defTabSz="1218154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8077" indent="-304540" algn="l" defTabSz="1218154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7153" indent="-304540" algn="l" defTabSz="1218154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077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154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7231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6308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5385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4463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3538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2616" algn="l" defTabSz="1218154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>
          <p15:clr>
            <a:srgbClr val="F26B43"/>
          </p15:clr>
        </p15:guide>
        <p15:guide id="2" pos="225">
          <p15:clr>
            <a:srgbClr val="F26B43"/>
          </p15:clr>
        </p15:guide>
        <p15:guide id="3" pos="7452">
          <p15:clr>
            <a:srgbClr val="F26B43"/>
          </p15:clr>
        </p15:guide>
        <p15:guide id="4" pos="1277">
          <p15:clr>
            <a:srgbClr val="F26B43"/>
          </p15:clr>
        </p15:guide>
        <p15:guide id="5" pos="1460">
          <p15:clr>
            <a:srgbClr val="F26B43"/>
          </p15:clr>
        </p15:guide>
        <p15:guide id="6" pos="2514">
          <p15:clr>
            <a:srgbClr val="F26B43"/>
          </p15:clr>
        </p15:guide>
        <p15:guide id="7" pos="2696">
          <p15:clr>
            <a:srgbClr val="F26B43"/>
          </p15:clr>
        </p15:guide>
        <p15:guide id="8" pos="3929">
          <p15:clr>
            <a:srgbClr val="F26B43"/>
          </p15:clr>
        </p15:guide>
        <p15:guide id="9" pos="3748">
          <p15:clr>
            <a:srgbClr val="F26B43"/>
          </p15:clr>
        </p15:guide>
        <p15:guide id="10" pos="4982">
          <p15:clr>
            <a:srgbClr val="F26B43"/>
          </p15:clr>
        </p15:guide>
        <p15:guide id="11" pos="5162">
          <p15:clr>
            <a:srgbClr val="F26B43"/>
          </p15:clr>
        </p15:guide>
        <p15:guide id="12" pos="6218">
          <p15:clr>
            <a:srgbClr val="F26B43"/>
          </p15:clr>
        </p15:guide>
        <p15:guide id="13" pos="6399">
          <p15:clr>
            <a:srgbClr val="F26B43"/>
          </p15:clr>
        </p15:guide>
        <p15:guide id="14" orient="horz" pos="807">
          <p15:clr>
            <a:srgbClr val="F26B43"/>
          </p15:clr>
        </p15:guide>
        <p15:guide id="15" orient="horz" pos="876">
          <p15:clr>
            <a:srgbClr val="F26B43"/>
          </p15:clr>
        </p15:guide>
        <p15:guide id="16" orient="horz" pos="4031">
          <p15:clr>
            <a:srgbClr val="F26B43"/>
          </p15:clr>
        </p15:guide>
        <p15:guide id="17" orient="horz" pos="597">
          <p15:clr>
            <a:srgbClr val="F26B43"/>
          </p15:clr>
        </p15:guide>
        <p15:guide id="18" orient="horz" pos="2435">
          <p15:clr>
            <a:srgbClr val="F26B43"/>
          </p15:clr>
        </p15:guide>
        <p15:guide id="19" orient="horz" pos="3756">
          <p15:clr>
            <a:srgbClr val="F26B43"/>
          </p15:clr>
        </p15:guide>
        <p15:guide id="20" orient="horz" pos="419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B94_470EAB4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#int" TargetMode="External"/><Relationship Id="rId2" Type="http://schemas.openxmlformats.org/officeDocument/2006/relationships/hyperlink" Target="https://docs.python.org/3/library/functions.html#func-str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docs.python.org/3/library/functions.html#bool" TargetMode="External"/><Relationship Id="rId4" Type="http://schemas.openxmlformats.org/officeDocument/2006/relationships/hyperlink" Target="https://docs.python.org/3/library/functions.html#float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3F4E726-1D9F-4C5D-A933-C47D87BB8CF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304" r="64772"/>
          <a:stretch/>
        </p:blipFill>
        <p:spPr>
          <a:xfrm>
            <a:off x="-48126" y="2581"/>
            <a:ext cx="2670414" cy="685487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2E4FA-DCB9-6447-8FA2-1EAB8F89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48913" y="2641131"/>
            <a:ext cx="8776675" cy="393709"/>
          </a:xfrm>
        </p:spPr>
        <p:txBody>
          <a:bodyPr/>
          <a:lstStyle/>
          <a:p>
            <a:r>
              <a:rPr lang="en-US" sz="2798" dirty="0">
                <a:ln w="190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Shaping the workforce of the future with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3BEC661-C270-9242-BA38-7C74223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913" y="3034839"/>
            <a:ext cx="8776675" cy="1664036"/>
          </a:xfrm>
        </p:spPr>
        <p:txBody>
          <a:bodyPr/>
          <a:lstStyle/>
          <a:p>
            <a:r>
              <a:rPr lang="en-US" sz="6796" dirty="0">
                <a:ln w="19050">
                  <a:noFill/>
                </a:ln>
                <a:solidFill>
                  <a:srgbClr val="FFC100"/>
                </a:solidFill>
              </a:rPr>
              <a:t>Codemasters</a:t>
            </a:r>
            <a:r>
              <a:rPr lang="en-US" sz="6796" dirty="0">
                <a:ln w="19050">
                  <a:noFill/>
                </a:ln>
                <a:solidFill>
                  <a:schemeClr val="bg1"/>
                </a:solidFill>
              </a:rPr>
              <a:t> </a:t>
            </a:r>
            <a:r>
              <a:rPr lang="en-US" sz="6796" dirty="0">
                <a:ln w="190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for </a:t>
            </a:r>
            <a:r>
              <a:rPr lang="en-US" sz="7795" dirty="0">
                <a:ln w="1905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refugee talent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4EACB5-BE30-47E8-AEDB-A1DBD964C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382" y="5303671"/>
            <a:ext cx="1165004" cy="1301798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091A9557-02D0-4B76-B50C-B53A046463D1}"/>
              </a:ext>
            </a:extLst>
          </p:cNvPr>
          <p:cNvSpPr txBox="1">
            <a:spLocks/>
          </p:cNvSpPr>
          <p:nvPr/>
        </p:nvSpPr>
        <p:spPr>
          <a:xfrm>
            <a:off x="2448912" y="5673390"/>
            <a:ext cx="8776675" cy="566309"/>
          </a:xfrm>
          <a:prstGeom prst="rect">
            <a:avLst/>
          </a:prstGeom>
        </p:spPr>
        <p:txBody>
          <a:bodyPr vert="horz" wrap="square" lIns="0" tIns="91440" rIns="0" bIns="0" rtlCol="0" anchor="t" anchorCtr="0">
            <a:spAutoFit/>
          </a:bodyPr>
          <a:lstStyle>
            <a:lvl1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AU" sz="10494" b="0" i="0" kern="1200" cap="all" spc="-70" baseline="0">
                <a:solidFill>
                  <a:schemeClr val="tx1"/>
                </a:solidFill>
                <a:latin typeface="Graphik Black" panose="020B0503030202060203" pitchFamily="34" charset="77"/>
                <a:ea typeface="Roboto Black" panose="02000000000000000000" pitchFamily="2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2pPr>
            <a:lvl3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3pPr>
            <a:lvl4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4pPr>
            <a:lvl5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5pPr>
            <a:lvl6pPr marL="609443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6pPr>
            <a:lvl7pPr marL="1218885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7pPr>
            <a:lvl8pPr marL="1828328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8pPr>
            <a:lvl9pPr marL="2437771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9pPr>
          </a:lstStyle>
          <a:p>
            <a:r>
              <a:rPr lang="en-US" sz="4400" dirty="0">
                <a:ln w="19050">
                  <a:noFill/>
                </a:ln>
              </a:rPr>
              <a:t>Lesson </a:t>
            </a:r>
            <a:r>
              <a:rPr lang="en-US" sz="4400" dirty="0">
                <a:ln w="19050">
                  <a:noFill/>
                </a:ln>
                <a:solidFill>
                  <a:srgbClr val="FFC100"/>
                </a:solidFill>
              </a:rPr>
              <a:t>3</a:t>
            </a:r>
            <a:endParaRPr lang="en-US" sz="4800" dirty="0">
              <a:ln w="19050">
                <a:noFill/>
              </a:ln>
              <a:solidFill>
                <a:srgbClr val="FFC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97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45FC7F0-57DB-4D8B-872A-F4391743C007}"/>
              </a:ext>
            </a:extLst>
          </p:cNvPr>
          <p:cNvSpPr/>
          <p:nvPr/>
        </p:nvSpPr>
        <p:spPr>
          <a:xfrm>
            <a:off x="12682866" y="3945625"/>
            <a:ext cx="2759300" cy="27593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C7488-BB2A-B1F6-7516-48CDB262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31089" r="8219" b="27129"/>
          <a:stretch>
            <a:fillRect/>
          </a:stretch>
        </p:blipFill>
        <p:spPr>
          <a:xfrm>
            <a:off x="2060575" y="1701752"/>
            <a:ext cx="2133812" cy="2845082"/>
          </a:xfrm>
          <a:prstGeom prst="rect">
            <a:avLst/>
          </a:prstGeom>
          <a:solidFill>
            <a:srgbClr val="000000">
              <a:shade val="95000"/>
            </a:srgbClr>
          </a:solidFill>
          <a:ln w="266700" cap="sq">
            <a:solidFill>
              <a:srgbClr val="FFD42E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B99713-F646-446A-8FE0-33B0F52F9E07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CBDC3A-D49F-4631-A8C7-55D59B33E5F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Graphik Regular" panose="020B0503030202060203" pitchFamily="34" charset="77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Graphik Regular" panose="020B050303020206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33905-D3D2-4E53-A699-7F3D1C34EB87}"/>
              </a:ext>
            </a:extLst>
          </p:cNvPr>
          <p:cNvSpPr txBox="1"/>
          <p:nvPr/>
        </p:nvSpPr>
        <p:spPr>
          <a:xfrm>
            <a:off x="0" y="213490"/>
            <a:ext cx="1218723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Black"/>
                <a:ea typeface="+mn-ea"/>
                <a:cs typeface="Arial" charset="0"/>
              </a:rPr>
              <a:t>WHO </a:t>
            </a:r>
            <a:r>
              <a:rPr kumimoji="0" lang="en-US" sz="6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Black"/>
                <a:ea typeface="+mn-ea"/>
                <a:cs typeface="Arial" charset="0"/>
              </a:rPr>
              <a:t>ARE WE</a:t>
            </a:r>
            <a:r>
              <a:rPr kumimoji="0" lang="en-US" sz="6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Black"/>
                <a:ea typeface="+mn-ea"/>
                <a:cs typeface="Arial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56E37D-8690-41B9-BD85-ECAC6378A6B2}"/>
              </a:ext>
            </a:extLst>
          </p:cNvPr>
          <p:cNvSpPr txBox="1"/>
          <p:nvPr/>
        </p:nvSpPr>
        <p:spPr>
          <a:xfrm>
            <a:off x="992521" y="5033268"/>
            <a:ext cx="42699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Black"/>
                <a:ea typeface="+mn-ea"/>
                <a:cs typeface="Arial" charset="0"/>
              </a:rPr>
              <a:t>Lucas Meira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Graphik Black"/>
              </a:rPr>
              <a:t>(Main instructor)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Black"/>
              <a:ea typeface="+mn-ea"/>
              <a:cs typeface="Arial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Role: Embedded Software Engineer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Hobbies: coding, cooking, traveling, dancing, gym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~3 years at ASML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rgbClr val="000000"/>
                </a:solidFill>
                <a:latin typeface="Graphik"/>
              </a:rPr>
              <a:t>From Brazil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EE344E-ADB7-E8FF-ED04-B58620D83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31" y="2019281"/>
            <a:ext cx="1830407" cy="1830407"/>
          </a:xfrm>
          <a:prstGeom prst="rect">
            <a:avLst/>
          </a:prstGeom>
          <a:solidFill>
            <a:srgbClr val="000000">
              <a:shade val="95000"/>
            </a:srgbClr>
          </a:solidFill>
          <a:ln w="266700" cap="sq">
            <a:solidFill>
              <a:srgbClr val="FFD42E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3E86DF-628C-D2D8-B627-B8725290FE30}"/>
              </a:ext>
            </a:extLst>
          </p:cNvPr>
          <p:cNvSpPr txBox="1"/>
          <p:nvPr/>
        </p:nvSpPr>
        <p:spPr>
          <a:xfrm>
            <a:off x="6924798" y="5033268"/>
            <a:ext cx="426991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>
                <a:solidFill>
                  <a:srgbClr val="000000"/>
                </a:solidFill>
                <a:latin typeface="Graphik Black"/>
              </a:rPr>
              <a:t>Bram ter Huurne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Black"/>
                <a:ea typeface="+mn-ea"/>
                <a:cs typeface="Arial" charset="0"/>
              </a:rPr>
              <a:t>( Support instructor</a:t>
            </a:r>
            <a:r>
              <a:rPr lang="en-US" sz="1400" kern="0">
                <a:solidFill>
                  <a:srgbClr val="000000"/>
                </a:solidFill>
                <a:latin typeface="Graphik Black"/>
              </a:rPr>
              <a:t>)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Black"/>
              <a:ea typeface="+mn-ea"/>
              <a:cs typeface="Arial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Role: Metrology Engineer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Hobbies: cooking, running + CrossFit, traveling, camping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~4 years at ASML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>
                <a:solidFill>
                  <a:srgbClr val="000000"/>
                </a:solidFill>
                <a:latin typeface="Graphik"/>
              </a:rPr>
              <a:t>From NL 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Arial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438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"/>
              <a:t>Copyright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2463" y="6538988"/>
            <a:ext cx="216000" cy="16192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F9AC08D-23A9-440E-BCB9-AA1E9877CC38}" type="slidenum">
              <a:rPr lang="en-US" sz="20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2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54" y="381089"/>
            <a:ext cx="8838242" cy="444963"/>
          </a:xfrm>
        </p:spPr>
        <p:txBody>
          <a:bodyPr anchor="t">
            <a:normAutofit/>
          </a:bodyPr>
          <a:lstStyle/>
          <a:p>
            <a:r>
              <a:rPr lang="en-US" sz="2800"/>
              <a:t>How I use python</a:t>
            </a:r>
            <a:endParaRPr lang="nl-NL" sz="280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5E8D763-D2D3-803C-1970-DBAA521EB2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0854" y="1542205"/>
            <a:ext cx="11148035" cy="460395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Control ASML machines</a:t>
            </a:r>
          </a:p>
          <a:p>
            <a:pPr marL="501750" lvl="1" indent="-285750"/>
            <a:r>
              <a:rPr lang="en-US" dirty="0"/>
              <a:t>Move lenses, control light sources, move wafers 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Automation</a:t>
            </a:r>
          </a:p>
          <a:p>
            <a:pPr marL="501750" lvl="1" indent="-285750"/>
            <a:r>
              <a:rPr lang="en-US" dirty="0"/>
              <a:t>Make my computer do boring tasks in an automated way</a:t>
            </a:r>
          </a:p>
          <a:p>
            <a:pPr marL="501750" lvl="1" indent="-285750"/>
            <a:r>
              <a:rPr lang="en-US" dirty="0"/>
              <a:t>Makes my life easier at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Desktop applications</a:t>
            </a:r>
          </a:p>
          <a:p>
            <a:pPr marL="501750" lvl="1" indent="-285750"/>
            <a:r>
              <a:rPr lang="en-US" dirty="0"/>
              <a:t>Using libraries such as Qt to create desktop apps!</a:t>
            </a:r>
          </a:p>
          <a:p>
            <a:pPr marL="285750" lvl="1" indent="-285750">
              <a:spcBef>
                <a:spcPts val="1200"/>
              </a:spcBef>
            </a:pPr>
            <a:r>
              <a:rPr lang="en-US" b="1" dirty="0"/>
              <a:t>Dashboards &amp; notebooks</a:t>
            </a:r>
          </a:p>
          <a:p>
            <a:pPr marL="501750" lvl="1" indent="-285750"/>
            <a:r>
              <a:rPr lang="en-US" dirty="0"/>
              <a:t>Use </a:t>
            </a:r>
            <a:r>
              <a:rPr lang="en-US" dirty="0" err="1"/>
              <a:t>marimo</a:t>
            </a:r>
            <a:r>
              <a:rPr lang="en-US" dirty="0"/>
              <a:t> notebooks to visualize machine performance</a:t>
            </a:r>
          </a:p>
          <a:p>
            <a:pPr marL="285750" lvl="1" indent="-285750">
              <a:spcBef>
                <a:spcPts val="1200"/>
              </a:spcBef>
            </a:pPr>
            <a:r>
              <a:rPr lang="en-US" b="1" dirty="0"/>
              <a:t>Algorithm validation</a:t>
            </a:r>
          </a:p>
          <a:p>
            <a:pPr marL="501750" lvl="1" indent="-285750"/>
            <a:r>
              <a:rPr lang="en-US" dirty="0"/>
              <a:t>Create, test and validate new algorithms running on ASML machines to improve performance</a:t>
            </a:r>
          </a:p>
          <a:p>
            <a:pPr marL="501750" lvl="1" indent="-285750"/>
            <a:endParaRPr lang="en-US" dirty="0"/>
          </a:p>
          <a:p>
            <a:pPr marL="285750" indent="-28575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38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E127E9-ACB8-23C3-F5DA-5C75C7E3E3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9756E7-9799-5DDF-62DE-0A47187DC5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65BDAB-CF6B-6100-F5C8-2DACA513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 for session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10455-0CF0-997B-16B5-7517EE5ED2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98625" y="1863725"/>
            <a:ext cx="8789988" cy="313213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Recap session 2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Code Comments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F-strings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Lists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Strings (just a little)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User input (just a little)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Exercise and questions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25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E47E7-98D0-25C7-8536-427DCEA977AA}"/>
              </a:ext>
            </a:extLst>
          </p:cNvPr>
          <p:cNvSpPr txBox="1"/>
          <p:nvPr/>
        </p:nvSpPr>
        <p:spPr>
          <a:xfrm>
            <a:off x="558706" y="1045866"/>
            <a:ext cx="112167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Printing to the screen</a:t>
            </a:r>
          </a:p>
          <a:p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	print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World!"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Virtual Environments</a:t>
            </a:r>
          </a:p>
          <a:p>
            <a:r>
              <a:rPr lang="en-US" sz="2400" dirty="0"/>
              <a:t>	Self contained, isolated projects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Variables</a:t>
            </a:r>
          </a:p>
          <a:p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name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"Piet"</a:t>
            </a:r>
            <a:endParaRPr lang="en-US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	print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</a:t>
            </a:r>
            <a:r>
              <a:rPr lang="en-US" sz="2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nl-NL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400" dirty="0"/>
              <a:t>Operations </a:t>
            </a:r>
            <a:r>
              <a:rPr lang="nl-NL" sz="2400" dirty="0" err="1"/>
              <a:t>and</a:t>
            </a:r>
            <a:r>
              <a:rPr lang="nl-NL" sz="2400" dirty="0"/>
              <a:t> casting</a:t>
            </a:r>
          </a:p>
          <a:p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	seconds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73.0</a:t>
            </a:r>
            <a:endParaRPr lang="en-US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	print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seconds</a:t>
            </a:r>
            <a: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minutes have passed."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496437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E47E7-98D0-25C7-8536-427DCEA977AA}"/>
              </a:ext>
            </a:extLst>
          </p:cNvPr>
          <p:cNvSpPr txBox="1"/>
          <p:nvPr/>
        </p:nvSpPr>
        <p:spPr>
          <a:xfrm>
            <a:off x="640686" y="2225126"/>
            <a:ext cx="112167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nl-NL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nl-NL" sz="2400" dirty="0"/>
              <a:t>Operations </a:t>
            </a:r>
            <a:r>
              <a:rPr lang="nl-NL" sz="2400" dirty="0" err="1"/>
              <a:t>and</a:t>
            </a:r>
            <a:r>
              <a:rPr lang="nl-NL" sz="2400" dirty="0"/>
              <a:t> casting</a:t>
            </a:r>
          </a:p>
          <a:p>
            <a:pPr lvl="1"/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seconds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173.0</a:t>
            </a:r>
            <a:endParaRPr lang="en-US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minutes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seconds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endParaRPr lang="nl-NL" sz="2400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09FFFAE-8DD9-B610-B9D7-EA6069E8FF87}"/>
              </a:ext>
            </a:extLst>
          </p:cNvPr>
          <p:cNvSpPr/>
          <p:nvPr/>
        </p:nvSpPr>
        <p:spPr>
          <a:xfrm>
            <a:off x="4962586" y="4414242"/>
            <a:ext cx="2055824" cy="1710674"/>
          </a:xfrm>
          <a:prstGeom prst="wedgeRoundRectCallout">
            <a:avLst>
              <a:gd name="adj1" fmla="val -122981"/>
              <a:gd name="adj2" fmla="val -91960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raphik" panose="020B0503030202060203" pitchFamily="34" charset="77"/>
              </a:rPr>
              <a:t>This is a casting operation: we transform a float into an integer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678D6D61-FB98-1233-3938-D67C395C54D2}"/>
              </a:ext>
            </a:extLst>
          </p:cNvPr>
          <p:cNvSpPr/>
          <p:nvPr/>
        </p:nvSpPr>
        <p:spPr>
          <a:xfrm>
            <a:off x="4901745" y="62802"/>
            <a:ext cx="3455801" cy="2433576"/>
          </a:xfrm>
          <a:prstGeom prst="wedgeRoundRectCallout">
            <a:avLst>
              <a:gd name="adj1" fmla="val -46016"/>
              <a:gd name="adj2" fmla="val 88672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raphik" panose="020B0503030202060203" pitchFamily="34" charset="77"/>
              </a:rPr>
              <a:t>This is a floating-point division. It divides floats so first python casts 60 to float without telling you </a:t>
            </a:r>
            <a:r>
              <a:rPr lang="en-US" dirty="0">
                <a:latin typeface="Graphik" panose="020B0503030202060203" pitchFamily="34" charset="77"/>
                <a:sym typeface="Wingdings" panose="05000000000000000000" pitchFamily="2" charset="2"/>
              </a:rPr>
              <a:t>. You can search the internet for other python operations such as integer- division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//</a:t>
            </a:r>
            <a:r>
              <a:rPr lang="en-US" dirty="0">
                <a:latin typeface="Graphik" panose="020B0503030202060203" pitchFamily="34" charset="77"/>
                <a:sym typeface="Wingdings" panose="05000000000000000000" pitchFamily="2" charset="2"/>
              </a:rPr>
              <a:t> and modulo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%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1436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BD46-921E-5B49-B3C5-7B5D7BED2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COMMENTs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ED743-9F62-4116-A3D7-A42E291A5EFB}"/>
              </a:ext>
            </a:extLst>
          </p:cNvPr>
          <p:cNvSpPr/>
          <p:nvPr/>
        </p:nvSpPr>
        <p:spPr>
          <a:xfrm>
            <a:off x="380854" y="2495443"/>
            <a:ext cx="8552891" cy="2270456"/>
          </a:xfrm>
          <a:prstGeom prst="rect">
            <a:avLst/>
          </a:prstGeom>
          <a:solidFill>
            <a:schemeClr val="tx1"/>
          </a:solidFill>
          <a:ln w="19050">
            <a:solidFill>
              <a:srgbClr val="FFC1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age = 27 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variable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is </a:t>
            </a:r>
            <a:r>
              <a:rPr lang="en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used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for tracking the age.</a:t>
            </a: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name =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“Lisa”</a:t>
            </a: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endParaRPr lang="nl-NL" b="1" dirty="0">
              <a:solidFill>
                <a:srgbClr val="FF7C8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age = age + 1</a:t>
            </a:r>
          </a:p>
          <a:p>
            <a:pPr marL="342900" indent="-342900">
              <a:buFontTx/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NL" b="1" dirty="0">
                <a:solidFill>
                  <a:srgbClr val="FF7C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(name,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‘is‘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age)</a:t>
            </a:r>
            <a:endParaRPr lang="nl-NL" b="1" dirty="0">
              <a:solidFill>
                <a:srgbClr val="FF7C8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0559FC-4261-494E-84FB-DF05471DFF71}"/>
              </a:ext>
            </a:extLst>
          </p:cNvPr>
          <p:cNvSpPr/>
          <p:nvPr/>
        </p:nvSpPr>
        <p:spPr>
          <a:xfrm>
            <a:off x="302166" y="1536164"/>
            <a:ext cx="108626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Python has commenting capability for the purpose of in-code documentation.</a:t>
            </a:r>
          </a:p>
          <a:p>
            <a:r>
              <a:rPr lang="en-US" dirty="0">
                <a:latin typeface="Calibri" panose="020F0502020204030204" pitchFamily="34" charset="0"/>
              </a:rPr>
              <a:t>Comments start with a #, and Python will render the rest of the line as a comment: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7ED46-C301-33DF-3C15-2C235FDF7761}"/>
              </a:ext>
            </a:extLst>
          </p:cNvPr>
          <p:cNvSpPr txBox="1"/>
          <p:nvPr/>
        </p:nvSpPr>
        <p:spPr>
          <a:xfrm>
            <a:off x="1" y="5087074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Calibri" panose="020F0502020204030204" pitchFamily="34" charset="0"/>
              </a:rPr>
              <a:t>Important: Commented out code will not be executed!</a:t>
            </a:r>
          </a:p>
        </p:txBody>
      </p:sp>
    </p:spTree>
    <p:extLst>
      <p:ext uri="{BB962C8B-B14F-4D97-AF65-F5344CB8AC3E}">
        <p14:creationId xmlns:p14="http://schemas.microsoft.com/office/powerpoint/2010/main" val="58482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DBD46-921E-5B49-B3C5-7B5D7BED2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EXERCISE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ED743-9F62-4116-A3D7-A42E291A5EFB}"/>
              </a:ext>
            </a:extLst>
          </p:cNvPr>
          <p:cNvSpPr/>
          <p:nvPr/>
        </p:nvSpPr>
        <p:spPr>
          <a:xfrm>
            <a:off x="1817173" y="2730335"/>
            <a:ext cx="8552891" cy="1768513"/>
          </a:xfrm>
          <a:prstGeom prst="rect">
            <a:avLst/>
          </a:prstGeom>
          <a:solidFill>
            <a:schemeClr val="tx1"/>
          </a:solidFill>
          <a:ln w="19050">
            <a:solidFill>
              <a:srgbClr val="FFC1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age = 27 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This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variable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is </a:t>
            </a:r>
            <a:r>
              <a:rPr lang="en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used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for tracking the age.</a:t>
            </a: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name =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“Lisa”</a:t>
            </a: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age = age + 3</a:t>
            </a:r>
            <a:endParaRPr lang="nl-NL" b="1" dirty="0">
              <a:solidFill>
                <a:srgbClr val="FF7C8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NL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#age = age + 1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0559FC-4261-494E-84FB-DF05471DFF71}"/>
              </a:ext>
            </a:extLst>
          </p:cNvPr>
          <p:cNvSpPr/>
          <p:nvPr/>
        </p:nvSpPr>
        <p:spPr>
          <a:xfrm>
            <a:off x="302166" y="1536164"/>
            <a:ext cx="108626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</a:rPr>
              <a:t>What is the final value of the variable </a:t>
            </a:r>
            <a:r>
              <a:rPr lang="en-US" sz="2800" b="1" dirty="0">
                <a:latin typeface="Calibri" panose="020F0502020204030204" pitchFamily="34" charset="0"/>
              </a:rPr>
              <a:t>age</a:t>
            </a:r>
            <a:r>
              <a:rPr lang="en-US" sz="2800" dirty="0">
                <a:latin typeface="Calibri" panose="020F0502020204030204" pitchFamily="34" charset="0"/>
              </a:rPr>
              <a:t>?</a:t>
            </a:r>
            <a:endParaRPr lang="en-US" sz="2800" b="1" dirty="0">
              <a:latin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4B2E13-737E-A955-4ABB-342FBBCCF4FB}"/>
              </a:ext>
            </a:extLst>
          </p:cNvPr>
          <p:cNvSpPr/>
          <p:nvPr/>
        </p:nvSpPr>
        <p:spPr>
          <a:xfrm>
            <a:off x="454566" y="4908189"/>
            <a:ext cx="108626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</a:rPr>
              <a:t>30</a:t>
            </a:r>
            <a:endParaRPr lang="en-US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3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5FA3C-0073-4E07-A546-107472AC3C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6A1C80-8290-4F23-93DD-226130E9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 conversion</a:t>
            </a:r>
            <a:endParaRPr lang="nl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7E47F9-4470-384A-9458-CD115E4B80A9}"/>
              </a:ext>
            </a:extLst>
          </p:cNvPr>
          <p:cNvSpPr txBox="1"/>
          <p:nvPr/>
        </p:nvSpPr>
        <p:spPr>
          <a:xfrm>
            <a:off x="380854" y="1128050"/>
            <a:ext cx="7065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latin typeface="Calibri" panose="020F0502020204030204" pitchFamily="34" charset="0"/>
              </a:rPr>
              <a:t>+ operator </a:t>
            </a:r>
            <a:r>
              <a:rPr lang="en-GB" sz="1600" dirty="0">
                <a:latin typeface="Calibri" panose="020F0502020204030204" pitchFamily="34" charset="0"/>
              </a:rPr>
              <a:t>pastes together two strings  &amp; can be very useful in building custom messages.</a:t>
            </a:r>
            <a:endParaRPr lang="en-NL" sz="1600" dirty="0"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49BBC-74F1-6B48-A3BF-84F35254A49B}"/>
              </a:ext>
            </a:extLst>
          </p:cNvPr>
          <p:cNvSpPr txBox="1"/>
          <p:nvPr/>
        </p:nvSpPr>
        <p:spPr>
          <a:xfrm>
            <a:off x="380854" y="3147733"/>
            <a:ext cx="5278541" cy="58477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GB" sz="1600">
                <a:latin typeface="Consolas" panose="020B0609020204030204" pitchFamily="49" charset="0"/>
              </a:rPr>
              <a:t>print("I started with $" + </a:t>
            </a:r>
            <a:r>
              <a:rPr lang="en-GB" sz="1600" b="1">
                <a:latin typeface="Consolas" panose="020B0609020204030204" pitchFamily="49" charset="0"/>
              </a:rPr>
              <a:t>savings</a:t>
            </a:r>
            <a:r>
              <a:rPr lang="en-GB" sz="1600">
                <a:latin typeface="Consolas" panose="020B0609020204030204" pitchFamily="49" charset="0"/>
              </a:rPr>
              <a:t> + " and now have $" + </a:t>
            </a:r>
            <a:r>
              <a:rPr lang="en-GB" sz="1600" b="1">
                <a:latin typeface="Consolas" panose="020B0609020204030204" pitchFamily="49" charset="0"/>
              </a:rPr>
              <a:t>result</a:t>
            </a:r>
            <a:r>
              <a:rPr lang="en-GB" sz="1600">
                <a:latin typeface="Consolas" panose="020B0609020204030204" pitchFamily="49" charset="0"/>
              </a:rPr>
              <a:t> + ". Awesome!")</a:t>
            </a:r>
            <a:endParaRPr lang="en-NL" sz="16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F9BF8-1B53-D64D-AC00-D52ACB15567D}"/>
              </a:ext>
            </a:extLst>
          </p:cNvPr>
          <p:cNvSpPr txBox="1"/>
          <p:nvPr/>
        </p:nvSpPr>
        <p:spPr>
          <a:xfrm>
            <a:off x="380854" y="2464934"/>
            <a:ext cx="37499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latin typeface="Calibri" panose="020F0502020204030204" pitchFamily="34" charset="0"/>
              </a:rPr>
              <a:t>savings</a:t>
            </a:r>
            <a:r>
              <a:rPr lang="en-GB" sz="1600" dirty="0">
                <a:latin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sym typeface="Wingdings" pitchFamily="2" charset="2"/>
              </a:rPr>
              <a:t> 20 (int), </a:t>
            </a:r>
            <a:r>
              <a:rPr lang="en-GB" sz="1600" b="1" dirty="0">
                <a:latin typeface="Calibri" panose="020F0502020204030204" pitchFamily="34" charset="0"/>
              </a:rPr>
              <a:t>result</a:t>
            </a:r>
            <a:r>
              <a:rPr lang="en-GB" sz="1600" dirty="0">
                <a:latin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sym typeface="Wingdings" pitchFamily="2" charset="2"/>
              </a:rPr>
              <a:t> 62.5 (float)</a:t>
            </a:r>
            <a:endParaRPr lang="en-NL" sz="1600" dirty="0">
              <a:latin typeface="Calibri" panose="020F0502020204030204" pitchFamily="34" charset="0"/>
            </a:endParaRPr>
          </a:p>
          <a:p>
            <a:endParaRPr lang="en-NL" sz="1600" dirty="0"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12100-BAA6-CC42-B66D-388A69F52D89}"/>
              </a:ext>
            </a:extLst>
          </p:cNvPr>
          <p:cNvSpPr txBox="1"/>
          <p:nvPr/>
        </p:nvSpPr>
        <p:spPr>
          <a:xfrm>
            <a:off x="340125" y="2054155"/>
            <a:ext cx="1377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FFC000"/>
                </a:solidFill>
                <a:latin typeface="Calibri" panose="020F0502020204030204" pitchFamily="34" charset="0"/>
              </a:rPr>
              <a:t>Example</a:t>
            </a:r>
            <a:endParaRPr lang="en-NL" sz="1600" dirty="0">
              <a:solidFill>
                <a:srgbClr val="FFC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4DEE3-FDD4-C34D-8598-938AF76DC852}"/>
              </a:ext>
            </a:extLst>
          </p:cNvPr>
          <p:cNvSpPr txBox="1"/>
          <p:nvPr/>
        </p:nvSpPr>
        <p:spPr>
          <a:xfrm>
            <a:off x="340125" y="4263483"/>
            <a:ext cx="2152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Calibri" panose="020F0502020204030204" pitchFamily="34" charset="0"/>
              </a:rPr>
              <a:t>What will this print?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Calibri" panose="020F0502020204030204" pitchFamily="34" charset="0"/>
              </a:rPr>
              <a:t>Is it correct?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59EEB2-6B75-6644-92B4-09C16F4C550B}"/>
              </a:ext>
            </a:extLst>
          </p:cNvPr>
          <p:cNvSpPr txBox="1"/>
          <p:nvPr/>
        </p:nvSpPr>
        <p:spPr>
          <a:xfrm>
            <a:off x="6420043" y="2110812"/>
            <a:ext cx="50846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! </a:t>
            </a:r>
            <a:r>
              <a:rPr lang="en-GB" sz="1600" b="0" i="0" dirty="0">
                <a:solidFill>
                  <a:srgbClr val="05192D"/>
                </a:solidFill>
                <a:effectLst/>
                <a:latin typeface="Calibri" panose="020F0502020204030204" pitchFamily="34" charset="0"/>
              </a:rPr>
              <a:t>You can not sum strings and integers/floats.</a:t>
            </a:r>
          </a:p>
          <a:p>
            <a:pPr algn="l"/>
            <a:r>
              <a:rPr lang="en-GB" sz="1600" b="0" i="0" dirty="0">
                <a:solidFill>
                  <a:srgbClr val="05192D"/>
                </a:solidFill>
                <a:effectLst/>
                <a:latin typeface="Calibri" panose="020F0502020204030204" pitchFamily="34" charset="0"/>
              </a:rPr>
              <a:t>To fix the error, you'll need to explicitly convert the types of your variables.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10DE56-914E-2546-87AD-DD54D88C4C03}"/>
              </a:ext>
            </a:extLst>
          </p:cNvPr>
          <p:cNvSpPr txBox="1"/>
          <p:nvPr/>
        </p:nvSpPr>
        <p:spPr>
          <a:xfrm>
            <a:off x="6420043" y="3243880"/>
            <a:ext cx="49919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strike="noStrike" dirty="0">
                <a:solidFill>
                  <a:srgbClr val="007BB6"/>
                </a:solidFill>
                <a:effectLst/>
                <a:latin typeface="Calibri" panose="020F0502020204030204" pitchFamily="34" charset="0"/>
                <a:hlinkClick r:id="rId2"/>
              </a:rPr>
              <a:t>In order to </a:t>
            </a:r>
            <a:r>
              <a:rPr lang="en-GB" sz="1600" dirty="0">
                <a:solidFill>
                  <a:srgbClr val="007BB6"/>
                </a:solidFill>
                <a:latin typeface="Calibri" panose="020F0502020204030204" pitchFamily="34" charset="0"/>
                <a:hlinkClick r:id="rId2"/>
              </a:rPr>
              <a:t>sum them together,  you will need specifically </a:t>
            </a:r>
            <a:r>
              <a:rPr lang="en-GB" sz="1600" b="1" i="0" u="none" strike="noStrike" dirty="0">
                <a:solidFill>
                  <a:srgbClr val="007BB6"/>
                </a:solidFill>
                <a:effectLst/>
                <a:latin typeface="Calibri" panose="020F0502020204030204" pitchFamily="34" charset="0"/>
                <a:hlinkClick r:id="rId2"/>
              </a:rPr>
              <a:t>str()</a:t>
            </a:r>
            <a:r>
              <a:rPr lang="en-GB" sz="1600" b="0" i="0" dirty="0">
                <a:solidFill>
                  <a:srgbClr val="05192D"/>
                </a:solidFill>
                <a:effectLst/>
                <a:latin typeface="Calibri" panose="020F0502020204030204" pitchFamily="34" charset="0"/>
              </a:rPr>
              <a:t>, to convert a value into a string.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BF1FED-B869-EE43-93A1-C397FBF903BF}"/>
              </a:ext>
            </a:extLst>
          </p:cNvPr>
          <p:cNvSpPr txBox="1"/>
          <p:nvPr/>
        </p:nvSpPr>
        <p:spPr>
          <a:xfrm>
            <a:off x="6420043" y="4009934"/>
            <a:ext cx="5692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alibri" panose="020F0502020204030204" pitchFamily="34" charset="0"/>
              </a:rPr>
              <a:t>str(savings)</a:t>
            </a:r>
            <a:r>
              <a:rPr lang="en-GB" sz="1600" dirty="0">
                <a:solidFill>
                  <a:srgbClr val="05192D"/>
                </a:solidFill>
                <a:latin typeface="Calibri" panose="020F0502020204030204" pitchFamily="34" charset="0"/>
              </a:rPr>
              <a:t> </a:t>
            </a:r>
            <a:r>
              <a:rPr lang="en-GB" sz="1600" dirty="0">
                <a:solidFill>
                  <a:srgbClr val="05192D"/>
                </a:solidFill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GB" sz="1600" b="0" i="0" dirty="0">
                <a:solidFill>
                  <a:srgbClr val="05192D"/>
                </a:solidFill>
                <a:effectLst/>
                <a:latin typeface="Calibri" panose="020F0502020204030204" pitchFamily="34" charset="0"/>
              </a:rPr>
              <a:t>convert the integer </a:t>
            </a:r>
            <a:r>
              <a:rPr lang="en-GB" sz="1600" dirty="0">
                <a:latin typeface="Calibri" panose="020F0502020204030204" pitchFamily="34" charset="0"/>
              </a:rPr>
              <a:t>savings</a:t>
            </a:r>
            <a:r>
              <a:rPr lang="en-GB" sz="1600" b="0" i="0" dirty="0">
                <a:solidFill>
                  <a:srgbClr val="05192D"/>
                </a:solidFill>
                <a:effectLst/>
                <a:latin typeface="Calibri" panose="020F0502020204030204" pitchFamily="34" charset="0"/>
              </a:rPr>
              <a:t> to a string.</a:t>
            </a:r>
          </a:p>
          <a:p>
            <a:r>
              <a:rPr lang="en-GB" sz="1600" dirty="0">
                <a:solidFill>
                  <a:srgbClr val="05192D"/>
                </a:solidFill>
                <a:latin typeface="Calibri" panose="020F0502020204030204" pitchFamily="34" charset="0"/>
              </a:rPr>
              <a:t>str(result) </a:t>
            </a:r>
            <a:r>
              <a:rPr lang="en-GB" sz="1600" dirty="0">
                <a:solidFill>
                  <a:srgbClr val="05192D"/>
                </a:solidFill>
                <a:latin typeface="Calibri" panose="020F0502020204030204" pitchFamily="34" charset="0"/>
                <a:sym typeface="Wingdings" pitchFamily="2" charset="2"/>
              </a:rPr>
              <a:t> convert the float to a string.</a:t>
            </a:r>
          </a:p>
          <a:p>
            <a:endParaRPr lang="en-GB" sz="1600" dirty="0">
              <a:solidFill>
                <a:srgbClr val="05192D"/>
              </a:solidFill>
              <a:latin typeface="Calibri" panose="020F0502020204030204" pitchFamily="34" charset="0"/>
              <a:sym typeface="Wingdings" pitchFamily="2" charset="2"/>
            </a:endParaRPr>
          </a:p>
          <a:p>
            <a:r>
              <a:rPr lang="en-GB" sz="1600" dirty="0">
                <a:solidFill>
                  <a:srgbClr val="05192D"/>
                </a:solidFill>
                <a:latin typeface="Calibri" panose="020F0502020204030204" pitchFamily="34" charset="0"/>
                <a:sym typeface="Wingdings" pitchFamily="2" charset="2"/>
              </a:rPr>
              <a:t>NOW you can sum</a:t>
            </a:r>
            <a:endParaRPr lang="en-NL" sz="1600" dirty="0"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6B5147-EB0D-BB42-BCE6-AF9A84CB72F4}"/>
              </a:ext>
            </a:extLst>
          </p:cNvPr>
          <p:cNvSpPr txBox="1"/>
          <p:nvPr/>
        </p:nvSpPr>
        <p:spPr>
          <a:xfrm>
            <a:off x="6093619" y="5731538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FFC100"/>
                </a:solidFill>
                <a:effectLst/>
                <a:latin typeface="Studio-Feixen-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int()</a:t>
            </a:r>
            <a:r>
              <a:rPr lang="en-GB" b="0" i="0" dirty="0">
                <a:solidFill>
                  <a:srgbClr val="05192D"/>
                </a:solidFill>
                <a:effectLst/>
                <a:latin typeface="Studio-Feixen-Sans"/>
              </a:rPr>
              <a:t>, </a:t>
            </a:r>
            <a:r>
              <a:rPr lang="en-GB" b="1" i="0" u="none" strike="noStrike" dirty="0">
                <a:solidFill>
                  <a:srgbClr val="007BB6"/>
                </a:solidFill>
                <a:effectLst/>
                <a:latin typeface="Studio-Feixen-Sans"/>
                <a:hlinkClick r:id="rId4"/>
              </a:rPr>
              <a:t>float()</a:t>
            </a:r>
            <a:r>
              <a:rPr lang="en-GB" b="0" i="0" dirty="0">
                <a:solidFill>
                  <a:srgbClr val="05192D"/>
                </a:solidFill>
                <a:effectLst/>
                <a:latin typeface="Studio-Feixen-Sans"/>
              </a:rPr>
              <a:t> and </a:t>
            </a:r>
            <a:r>
              <a:rPr lang="en-GB" b="1" i="0" u="none" strike="noStrike" dirty="0">
                <a:solidFill>
                  <a:srgbClr val="007BB6"/>
                </a:solidFill>
                <a:effectLst/>
                <a:latin typeface="Studio-Feixen-Sans"/>
                <a:hlinkClick r:id="rId5"/>
              </a:rPr>
              <a:t>bool()</a:t>
            </a:r>
            <a:r>
              <a:rPr lang="en-GB" b="0" i="0" dirty="0">
                <a:solidFill>
                  <a:srgbClr val="05192D"/>
                </a:solidFill>
                <a:effectLst/>
                <a:latin typeface="Studio-Feixen-Sans"/>
              </a:rPr>
              <a:t> similar to str() help you convert Python values into any type.</a:t>
            </a:r>
            <a:endParaRPr lang="en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B9355F-381F-1143-9398-087304B7F801}"/>
              </a:ext>
            </a:extLst>
          </p:cNvPr>
          <p:cNvSpPr txBox="1"/>
          <p:nvPr/>
        </p:nvSpPr>
        <p:spPr>
          <a:xfrm>
            <a:off x="6093619" y="5385753"/>
            <a:ext cx="1485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FF0000"/>
                </a:solidFill>
                <a:effectLst/>
                <a:latin typeface="Studio-Feixen-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! Remember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5558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25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384CE85-3E96-2FB8-CA67-00D8CB46DA1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57187" y="546378"/>
            <a:ext cx="7551737" cy="1255712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AU" sz="6800" b="0" i="0" kern="1200" cap="all" spc="0" baseline="0">
                <a:solidFill>
                  <a:schemeClr val="tx1"/>
                </a:solidFill>
                <a:latin typeface="Graphik Black" panose="020B0A03030202060203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2pPr>
            <a:lvl3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3pPr>
            <a:lvl4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4pPr>
            <a:lvl5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5pPr>
            <a:lvl6pPr marL="609443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6pPr>
            <a:lvl7pPr marL="1218885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7pPr>
            <a:lvl8pPr marL="1828328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8pPr>
            <a:lvl9pPr marL="2437771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9pPr>
          </a:lstStyle>
          <a:p>
            <a:r>
              <a:rPr lang="en-US" sz="4400" dirty="0">
                <a:latin typeface="Calibri" panose="020F0502020204030204" pitchFamily="34" charset="0"/>
              </a:rPr>
              <a:t>F-Strings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4B9E5E-9A0A-8F3C-43F1-E8C443846912}"/>
              </a:ext>
            </a:extLst>
          </p:cNvPr>
          <p:cNvSpPr/>
          <p:nvPr/>
        </p:nvSpPr>
        <p:spPr>
          <a:xfrm>
            <a:off x="249710" y="3560155"/>
            <a:ext cx="7138987" cy="2270456"/>
          </a:xfrm>
          <a:prstGeom prst="rect">
            <a:avLst/>
          </a:prstGeom>
          <a:solidFill>
            <a:schemeClr val="tx1"/>
          </a:solidFill>
          <a:ln w="19050">
            <a:solidFill>
              <a:srgbClr val="FFC1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NL" b="1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nl-NL" b="1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27</a:t>
            </a: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name =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“Lisa”</a:t>
            </a:r>
          </a:p>
          <a:p>
            <a:pPr marL="342900" indent="-342900">
              <a:buAutoNum type="arabicPlain"/>
            </a:pP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NL" b="1" dirty="0">
                <a:solidFill>
                  <a:srgbClr val="FF7C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</a:t>
            </a:r>
            <a:r>
              <a:rPr lang="nl-NL" b="1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nl-NL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“Hey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{name}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 </a:t>
            </a:r>
            <a:r>
              <a:rPr lang="nl-NL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You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are 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nl-NL" b="1" dirty="0" err="1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age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 </a:t>
            </a:r>
            <a:r>
              <a:rPr lang="nl-NL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years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NL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.”</a:t>
            </a:r>
            <a:r>
              <a:rPr lang="nl-NL" b="1" dirty="0">
                <a:solidFill>
                  <a:schemeClr val="bg1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FEF84E-CE5B-E8CC-8AB0-E2C8D852F8E8}"/>
              </a:ext>
            </a:extLst>
          </p:cNvPr>
          <p:cNvSpPr txBox="1"/>
          <p:nvPr/>
        </p:nvSpPr>
        <p:spPr>
          <a:xfrm>
            <a:off x="357187" y="1035209"/>
            <a:ext cx="10354962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Font typeface="Arial" pitchFamily="34" charset="0"/>
              <a:buChar char="•"/>
            </a:lvl1pPr>
            <a:lvl2pPr>
              <a:buFont typeface="Arial" pitchFamily="34" charset="0"/>
              <a:buChar char="•"/>
            </a:lvl2pPr>
            <a:lvl3pPr>
              <a:buFont typeface="Arial" pitchFamily="34" charset="0"/>
              <a:buChar char="‒"/>
            </a:lvl3pPr>
            <a:lvl4pPr>
              <a:buFont typeface="Arial" pitchFamily="34" charset="0"/>
              <a:buChar char="•"/>
            </a:lvl4pPr>
            <a:lvl5pPr>
              <a:buFont typeface="Arial" pitchFamily="34" charset="0"/>
              <a:buChar char="‒"/>
            </a:lvl5pPr>
            <a:lvl6pPr>
              <a:buFont typeface="Arial" pitchFamily="34" charset="0"/>
              <a:buChar char="•"/>
            </a:lvl6pPr>
            <a:lvl7pPr>
              <a:buFont typeface="Arial" pitchFamily="34" charset="0"/>
              <a:buChar char="•"/>
            </a:lvl7pPr>
            <a:lvl8pPr>
              <a:buFont typeface="Arial" pitchFamily="34" charset="0"/>
              <a:buChar char="•"/>
            </a:lvl8pPr>
            <a:lvl9pPr>
              <a:buFont typeface="Arial" pitchFamily="34" charset="0"/>
              <a:buChar char="•"/>
            </a:lvl9pPr>
          </a:lstStyle>
          <a:p>
            <a:pPr>
              <a:lnSpc>
                <a:spcPct val="150000"/>
              </a:lnSpc>
              <a:buNone/>
            </a:pPr>
            <a:r>
              <a:rPr lang="en-US" dirty="0">
                <a:latin typeface="Calibri" panose="020F0502020204030204" pitchFamily="34" charset="0"/>
              </a:rPr>
              <a:t>My favorite way of formatting strings in python is called an </a:t>
            </a:r>
            <a:r>
              <a:rPr lang="en-US" b="1" dirty="0">
                <a:latin typeface="Calibri" panose="020F0502020204030204" pitchFamily="34" charset="0"/>
              </a:rPr>
              <a:t>F-String</a:t>
            </a:r>
            <a:r>
              <a:rPr lang="en-US" dirty="0">
                <a:latin typeface="Calibri" panose="020F0502020204030204" pitchFamily="34" charset="0"/>
              </a:rPr>
              <a:t>. It is concise, fast and most importantly, easily readable. 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ri" panose="020F0502020204030204" pitchFamily="34" charset="0"/>
              </a:rPr>
              <a:t>To use it, put an uppercase or lowercase </a:t>
            </a:r>
            <a:r>
              <a:rPr lang="en-US" b="1" dirty="0">
                <a:latin typeface="Calibri" panose="020F0502020204030204" pitchFamily="34" charset="0"/>
              </a:rPr>
              <a:t>f </a:t>
            </a:r>
            <a:r>
              <a:rPr lang="en-US" dirty="0">
                <a:latin typeface="Calibri" panose="020F0502020204030204" pitchFamily="34" charset="0"/>
              </a:rPr>
              <a:t>before the opening quotation mark. After that, you can use your variable inside the string by putting them in between curly brackets (braces). Unlike the </a:t>
            </a:r>
            <a:r>
              <a:rPr lang="en-US" b="1" dirty="0">
                <a:latin typeface="Calibri" panose="020F0502020204030204" pitchFamily="34" charset="0"/>
              </a:rPr>
              <a:t>+</a:t>
            </a:r>
            <a:r>
              <a:rPr lang="en-US" dirty="0">
                <a:latin typeface="Calibri" panose="020F0502020204030204" pitchFamily="34" charset="0"/>
              </a:rPr>
              <a:t> operator you do not need to explicitly convert other types to string.</a:t>
            </a:r>
            <a:endParaRPr lang="en-NL" b="1" dirty="0"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07CD63-16A3-D857-1B6B-3218B0EB2A92}"/>
              </a:ext>
            </a:extLst>
          </p:cNvPr>
          <p:cNvSpPr/>
          <p:nvPr/>
        </p:nvSpPr>
        <p:spPr>
          <a:xfrm>
            <a:off x="7473193" y="4179716"/>
            <a:ext cx="4538725" cy="1030459"/>
          </a:xfrm>
          <a:prstGeom prst="rect">
            <a:avLst/>
          </a:prstGeom>
          <a:solidFill>
            <a:schemeClr val="tx1"/>
          </a:solidFill>
          <a:ln w="19050">
            <a:solidFill>
              <a:srgbClr val="FFC1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nl-NL" b="1" dirty="0">
                <a:solidFill>
                  <a:srgbClr val="33CC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Hey Lisa! </a:t>
            </a:r>
            <a:r>
              <a:rPr lang="nl-NL" b="1" dirty="0" err="1">
                <a:solidFill>
                  <a:srgbClr val="33CC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You</a:t>
            </a:r>
            <a:r>
              <a:rPr lang="nl-NL" b="1" dirty="0">
                <a:solidFill>
                  <a:srgbClr val="33CC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are 27 </a:t>
            </a:r>
            <a:r>
              <a:rPr lang="nl-NL" b="1" dirty="0" err="1">
                <a:solidFill>
                  <a:srgbClr val="33CC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years</a:t>
            </a:r>
            <a:r>
              <a:rPr lang="nl-NL" b="1" dirty="0">
                <a:solidFill>
                  <a:srgbClr val="33CC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l-NL" b="1" dirty="0" err="1">
                <a:solidFill>
                  <a:srgbClr val="33CC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</a:t>
            </a:r>
            <a:r>
              <a:rPr lang="nl-NL" b="1" dirty="0">
                <a:solidFill>
                  <a:srgbClr val="33CCFF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848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CE48B-9309-C3D5-B7B0-38A6D099F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B9059A-4D8F-E984-883D-87347C8592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D22B1-E6D5-9CFA-9F1C-A705B24F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35A9C2-6347-CA8B-4908-1440DA82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1A2171-6302-6992-3F4B-C19D42A3A0C1}"/>
              </a:ext>
            </a:extLst>
          </p:cNvPr>
          <p:cNvSpPr txBox="1"/>
          <p:nvPr/>
        </p:nvSpPr>
        <p:spPr>
          <a:xfrm>
            <a:off x="301436" y="1180013"/>
            <a:ext cx="1158436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Python Lists are a type of </a:t>
            </a:r>
            <a:r>
              <a:rPr lang="en-GB" b="1" i="0" dirty="0">
                <a:solidFill>
                  <a:srgbClr val="05192D"/>
                </a:solidFill>
                <a:effectLst/>
                <a:latin typeface="+mn-lt"/>
              </a:rPr>
              <a:t>Data Structure</a:t>
            </a:r>
            <a:r>
              <a:rPr lang="en-GB" i="0" dirty="0">
                <a:solidFill>
                  <a:srgbClr val="05192D"/>
                </a:solidFill>
                <a:effectLst/>
                <a:latin typeface="+mn-lt"/>
              </a:rPr>
              <a:t>!</a:t>
            </a:r>
          </a:p>
          <a:p>
            <a:endParaRPr lang="en-GB" dirty="0">
              <a:solidFill>
                <a:srgbClr val="05192D"/>
              </a:solidFill>
              <a:latin typeface="+mn-lt"/>
            </a:endParaRPr>
          </a:p>
          <a:p>
            <a:r>
              <a:rPr lang="en-GB" dirty="0">
                <a:solidFill>
                  <a:srgbClr val="05192D"/>
                </a:solidFill>
                <a:latin typeface="+mn-lt"/>
              </a:rPr>
              <a:t>Data Structures are a core concept in Computer Science.</a:t>
            </a:r>
          </a:p>
          <a:p>
            <a:r>
              <a:rPr lang="en-GB" dirty="0">
                <a:solidFill>
                  <a:srgbClr val="05192D"/>
                </a:solidFill>
                <a:latin typeface="+mn-lt"/>
              </a:rPr>
              <a:t>They allow us to group data in a </a:t>
            </a:r>
            <a:r>
              <a:rPr lang="en-GB" b="1" dirty="0">
                <a:solidFill>
                  <a:srgbClr val="05192D"/>
                </a:solidFill>
                <a:latin typeface="+mn-lt"/>
              </a:rPr>
              <a:t>cohesive way</a:t>
            </a:r>
            <a:r>
              <a:rPr lang="en-GB" dirty="0">
                <a:solidFill>
                  <a:srgbClr val="05192D"/>
                </a:solidFill>
                <a:latin typeface="+mn-lt"/>
              </a:rPr>
              <a:t> and apply </a:t>
            </a:r>
            <a:r>
              <a:rPr lang="en-GB" b="1" dirty="0">
                <a:solidFill>
                  <a:srgbClr val="05192D"/>
                </a:solidFill>
                <a:latin typeface="+mn-lt"/>
              </a:rPr>
              <a:t>algorithms</a:t>
            </a:r>
            <a:r>
              <a:rPr lang="en-GB" dirty="0">
                <a:solidFill>
                  <a:srgbClr val="05192D"/>
                </a:solidFill>
                <a:latin typeface="+mn-lt"/>
              </a:rPr>
              <a:t> on it.</a:t>
            </a:r>
          </a:p>
          <a:p>
            <a:endParaRPr lang="en-GB" b="1" dirty="0">
              <a:solidFill>
                <a:srgbClr val="05192D"/>
              </a:solidFill>
              <a:latin typeface="+mn-lt"/>
            </a:endParaRPr>
          </a:p>
          <a:p>
            <a:r>
              <a:rPr lang="en-US" dirty="0"/>
              <a:t>Data structures are frequently inspired by physical arrangements in the real world!</a:t>
            </a:r>
          </a:p>
          <a:p>
            <a:endParaRPr lang="en-US" dirty="0">
              <a:solidFill>
                <a:srgbClr val="05192D"/>
              </a:solidFill>
              <a:latin typeface="+mn-lt"/>
            </a:endParaRPr>
          </a:p>
          <a:p>
            <a:r>
              <a:rPr lang="en-US" dirty="0">
                <a:solidFill>
                  <a:srgbClr val="05192D"/>
                </a:solidFill>
                <a:latin typeface="+mn-lt"/>
              </a:rPr>
              <a:t>For example, lists can be seen as an egg tray</a:t>
            </a:r>
          </a:p>
          <a:p>
            <a:endParaRPr lang="en-US" dirty="0">
              <a:solidFill>
                <a:srgbClr val="05192D"/>
              </a:solidFill>
              <a:latin typeface="+mn-lt"/>
            </a:endParaRPr>
          </a:p>
          <a:p>
            <a:endParaRPr lang="en-GB" dirty="0">
              <a:solidFill>
                <a:srgbClr val="05192D"/>
              </a:solidFill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1F768A-E6EC-3B9C-558F-A66F24449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5865503" y="3293214"/>
            <a:ext cx="3353593" cy="282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44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521D94-801E-F740-BF1E-18C2702D1448}"/>
              </a:ext>
            </a:extLst>
          </p:cNvPr>
          <p:cNvSpPr txBox="1"/>
          <p:nvPr/>
        </p:nvSpPr>
        <p:spPr>
          <a:xfrm>
            <a:off x="301436" y="1180013"/>
            <a:ext cx="115843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Often, you’ll want to work with many data points. Imagine you work for the Netherlands Forecast Agency and you want to keep track of the max temperature every day of a given month. It would be inconvenient to use one variable for each day of the month. Instead, you can make a </a:t>
            </a:r>
            <a:r>
              <a:rPr lang="en-GB" b="1" i="0" dirty="0">
                <a:solidFill>
                  <a:srgbClr val="05192D"/>
                </a:solidFill>
                <a:effectLst/>
                <a:latin typeface="+mn-lt"/>
              </a:rPr>
              <a:t>list</a:t>
            </a:r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 for the month and use each place in the list to save the max temp. of a day.</a:t>
            </a:r>
          </a:p>
          <a:p>
            <a:endParaRPr lang="en-GB" dirty="0">
              <a:solidFill>
                <a:srgbClr val="05192D"/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07FCE8-003A-E59E-059A-ED893636EC24}"/>
              </a:ext>
            </a:extLst>
          </p:cNvPr>
          <p:cNvSpPr txBox="1"/>
          <p:nvPr/>
        </p:nvSpPr>
        <p:spPr>
          <a:xfrm>
            <a:off x="5889595" y="2506464"/>
            <a:ext cx="54933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Graphik" panose="020B0503030202060203" pitchFamily="34" charset="77"/>
              </a:rPr>
              <a:t>A list is a </a:t>
            </a:r>
            <a:r>
              <a:rPr lang="en-GB" b="1" i="0" dirty="0">
                <a:solidFill>
                  <a:srgbClr val="05192D"/>
                </a:solidFill>
                <a:effectLst/>
                <a:latin typeface="Graphik" panose="020B0503030202060203" pitchFamily="34" charset="77"/>
              </a:rPr>
              <a:t>compound data type</a:t>
            </a:r>
            <a:r>
              <a:rPr lang="en-GB" b="0" i="0" dirty="0">
                <a:solidFill>
                  <a:srgbClr val="05192D"/>
                </a:solidFill>
                <a:effectLst/>
                <a:latin typeface="Graphik" panose="020B0503030202060203" pitchFamily="34" charset="77"/>
              </a:rPr>
              <a:t>; you can group values together by using </a:t>
            </a:r>
            <a:r>
              <a:rPr lang="en-GB" dirty="0">
                <a:solidFill>
                  <a:srgbClr val="05192D"/>
                </a:solidFill>
                <a:latin typeface="Graphik" panose="020B0503030202060203" pitchFamily="34" charset="77"/>
              </a:rPr>
              <a:t>square brackets </a:t>
            </a:r>
            <a:r>
              <a:rPr lang="en-GB" b="1" dirty="0">
                <a:solidFill>
                  <a:srgbClr val="05192D"/>
                </a:solidFill>
                <a:latin typeface="Consolas" panose="020B0609020204030204" pitchFamily="49" charset="0"/>
              </a:rPr>
              <a:t>[]</a:t>
            </a:r>
            <a:r>
              <a:rPr lang="en-GB" dirty="0">
                <a:solidFill>
                  <a:srgbClr val="05192D"/>
                </a:solidFill>
                <a:latin typeface="Graphik" panose="020B0503030202060203" pitchFamily="34" charset="77"/>
              </a:rPr>
              <a:t> and separating them by comma.</a:t>
            </a:r>
            <a:endParaRPr lang="en-NL" dirty="0">
              <a:latin typeface="Graphik" panose="020B0503030202060203" pitchFamily="34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BC46CC-0888-1175-567B-2CD39E31399C}"/>
              </a:ext>
            </a:extLst>
          </p:cNvPr>
          <p:cNvSpPr txBox="1"/>
          <p:nvPr/>
        </p:nvSpPr>
        <p:spPr>
          <a:xfrm>
            <a:off x="5889595" y="3809260"/>
            <a:ext cx="54933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19FBA5-CAED-A443-07F2-8DBEF0F52BAF}"/>
              </a:ext>
            </a:extLst>
          </p:cNvPr>
          <p:cNvSpPr txBox="1"/>
          <p:nvPr/>
        </p:nvSpPr>
        <p:spPr>
          <a:xfrm>
            <a:off x="1768117" y="2291596"/>
            <a:ext cx="1957587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January_7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January_8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January_9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January_10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January_29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January_30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January_31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6" name="Graphic 5" descr="Thumbs Down outline">
            <a:extLst>
              <a:ext uri="{FF2B5EF4-FFF2-40B4-BE49-F238E27FC236}">
                <a16:creationId xmlns:a16="http://schemas.microsoft.com/office/drawing/2014/main" id="{96A95D73-1DBE-F3E1-ABDD-4986ACF2A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764" y="3880157"/>
            <a:ext cx="914400" cy="914400"/>
          </a:xfrm>
          <a:prstGeom prst="rect">
            <a:avLst/>
          </a:prstGeom>
        </p:spPr>
      </p:pic>
      <p:pic>
        <p:nvPicPr>
          <p:cNvPr id="8" name="Graphic 7" descr="Thumbs up sign outline">
            <a:extLst>
              <a:ext uri="{FF2B5EF4-FFF2-40B4-BE49-F238E27FC236}">
                <a16:creationId xmlns:a16="http://schemas.microsoft.com/office/drawing/2014/main" id="{A9323D59-C7D9-1333-9402-4CD7DCB01D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4696" y="457506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69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5335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Examples of lists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914253" y="2051266"/>
            <a:ext cx="10698209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[1,3,4,2] 			# a list of integers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[[1,2],[3,4,5],[9]] 	# what about this one?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[1+2, "a"*3] 			#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[0] * 100 			#</a:t>
            </a:r>
          </a:p>
        </p:txBody>
      </p:sp>
    </p:spTree>
    <p:extLst>
      <p:ext uri="{BB962C8B-B14F-4D97-AF65-F5344CB8AC3E}">
        <p14:creationId xmlns:p14="http://schemas.microsoft.com/office/powerpoint/2010/main" val="790503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5335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Examples of lists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914253" y="2051266"/>
            <a:ext cx="10698209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[1,3,4,2] 			# a list of integers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[[1,2],[3,4,5],[9]] 	# a list of lists of integers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[1+2, "a"*3] 			# what about this one?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[0] * 100 			#</a:t>
            </a:r>
          </a:p>
        </p:txBody>
      </p:sp>
    </p:spTree>
    <p:extLst>
      <p:ext uri="{BB962C8B-B14F-4D97-AF65-F5344CB8AC3E}">
        <p14:creationId xmlns:p14="http://schemas.microsoft.com/office/powerpoint/2010/main" val="3259014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5335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Examples of lists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914253" y="2051266"/>
            <a:ext cx="10698209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[1,3,4,2] 			# a list of integers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[[1,2],[3,4,5],[9]] 	# a list of lists of integers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[1+2, "a"*3] 			# a list of various types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[0] * 100 			# what about this one?</a:t>
            </a:r>
          </a:p>
        </p:txBody>
      </p:sp>
    </p:spTree>
    <p:extLst>
      <p:ext uri="{BB962C8B-B14F-4D97-AF65-F5344CB8AC3E}">
        <p14:creationId xmlns:p14="http://schemas.microsoft.com/office/powerpoint/2010/main" val="2818162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5335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Examples of lists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914253" y="2051266"/>
            <a:ext cx="10698209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[1,3,4,2] 			# a list of integers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[[1,2],[3,4,5],[9]] 	# a list of lists of integers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[1+2, "a"*3] 			# a list of various types</a:t>
            </a:r>
          </a:p>
          <a:p>
            <a:pPr>
              <a:lnSpc>
                <a:spcPct val="150000"/>
              </a:lnSpc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[0] * 100 			# a list of 100 zeros </a:t>
            </a:r>
          </a:p>
        </p:txBody>
      </p:sp>
    </p:spTree>
    <p:extLst>
      <p:ext uri="{BB962C8B-B14F-4D97-AF65-F5344CB8AC3E}">
        <p14:creationId xmlns:p14="http://schemas.microsoft.com/office/powerpoint/2010/main" val="347200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79275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Read an element of a list by index (position)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711301" y="2814606"/>
            <a:ext cx="11117162" cy="11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January = [5, -1, 3, 4, 3, 2, 1, 0, 2, 3, 4, 5, 6, 7, 6 …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max. temp. on 3rd of January was </a:t>
            </a:r>
            <a:r>
              <a:rPr lang="en-US" sz="24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{January[2]}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2355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79275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Read an element of a list by index (position)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711301" y="2814606"/>
            <a:ext cx="11117162" cy="2249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January = [5, -1, 3, 4, 3, 2, 1, 0, 2, 3, 4, …, 6, 5, 4]</a:t>
            </a:r>
            <a:endParaRPr lang="en-US" sz="24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max. temp. on 3rd of January was </a:t>
            </a:r>
            <a:r>
              <a:rPr lang="en-US" sz="24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{January[2]}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2400" b="0" dirty="0"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effectLst/>
                <a:latin typeface="Consolas" panose="020B0609020204030204" pitchFamily="49" charset="0"/>
              </a:rPr>
              <a:t>&gt;&gt; The max. temp. the 3rd of January was 3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32EFA22-BE07-4BAF-F768-F3ED2925E1CE}"/>
              </a:ext>
            </a:extLst>
          </p:cNvPr>
          <p:cNvSpPr/>
          <p:nvPr/>
        </p:nvSpPr>
        <p:spPr>
          <a:xfrm>
            <a:off x="8140700" y="5230757"/>
            <a:ext cx="3141980" cy="1141018"/>
          </a:xfrm>
          <a:prstGeom prst="wedgeRoundRectCallout">
            <a:avLst>
              <a:gd name="adj1" fmla="val -10734"/>
              <a:gd name="adj2" fmla="val -156872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Graphik" panose="020B0503030202060203" pitchFamily="34" charset="77"/>
              </a:rPr>
              <a:t>Why index </a:t>
            </a:r>
            <a:r>
              <a:rPr lang="en-US" sz="2400" b="1" dirty="0">
                <a:solidFill>
                  <a:srgbClr val="FF0000"/>
                </a:solidFill>
                <a:latin typeface="Graphik" panose="020B0503030202060203" pitchFamily="34" charset="77"/>
              </a:rPr>
              <a:t>2</a:t>
            </a:r>
            <a:r>
              <a:rPr lang="en-US" sz="2400" b="1" dirty="0">
                <a:latin typeface="Graphik" panose="020B0503030202060203" pitchFamily="34" charset="77"/>
              </a:rPr>
              <a:t> for </a:t>
            </a:r>
            <a:r>
              <a:rPr lang="en-US" sz="2400" b="1" dirty="0">
                <a:solidFill>
                  <a:srgbClr val="FF0000"/>
                </a:solidFill>
                <a:latin typeface="Graphik" panose="020B0503030202060203" pitchFamily="34" charset="77"/>
              </a:rPr>
              <a:t>3</a:t>
            </a:r>
            <a:r>
              <a:rPr lang="en-US" sz="2400" b="1" baseline="30000" dirty="0">
                <a:latin typeface="Graphik" panose="020B0503030202060203" pitchFamily="34" charset="77"/>
              </a:rPr>
              <a:t>rd</a:t>
            </a:r>
            <a:r>
              <a:rPr lang="en-US" sz="2400" b="1" dirty="0">
                <a:latin typeface="Graphik" panose="020B0503030202060203" pitchFamily="34" charset="77"/>
              </a:rPr>
              <a:t> of January?</a:t>
            </a:r>
          </a:p>
        </p:txBody>
      </p:sp>
    </p:spTree>
    <p:extLst>
      <p:ext uri="{BB962C8B-B14F-4D97-AF65-F5344CB8AC3E}">
        <p14:creationId xmlns:p14="http://schemas.microsoft.com/office/powerpoint/2010/main" val="282117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79275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Read an element of a list by index (position)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603301" y="2244386"/>
            <a:ext cx="11117162" cy="378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January = [5, -1, 3, 4, 3, 2, 1, 0, 2, 3, 4, …, 6, 5, 4]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“Temperatur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e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 the last day was </a:t>
            </a:r>
            <a:r>
              <a:rPr lang="en-US" sz="24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{January[31]}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2400" b="0" dirty="0"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Traceback (most recent call last):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File "c:\Users\rmonti\Downloads\CodeMasters2025\temperatures.py", line 7, in &lt;module&gt;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print(</a:t>
            </a:r>
            <a:r>
              <a:rPr lang="en-US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f"Temperature</a:t>
            </a:r>
            <a:r>
              <a:rPr lang="en-US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the last day was {January[31]}.")</a:t>
            </a:r>
          </a:p>
          <a:p>
            <a:pPr>
              <a:lnSpc>
                <a:spcPct val="150000"/>
              </a:lnSpc>
            </a:pPr>
            <a:r>
              <a:rPr lang="en-US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                                      ~~~~~~~^^^^</a:t>
            </a:r>
          </a:p>
          <a:p>
            <a:pPr>
              <a:lnSpc>
                <a:spcPct val="150000"/>
              </a:lnSpc>
            </a:pPr>
            <a:r>
              <a:rPr lang="en-US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IndexError</a:t>
            </a:r>
            <a:r>
              <a:rPr lang="en-US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: list index out of range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C6AEE73-155B-E7FD-7CFA-99DDBE3CFAE4}"/>
              </a:ext>
            </a:extLst>
          </p:cNvPr>
          <p:cNvSpPr/>
          <p:nvPr/>
        </p:nvSpPr>
        <p:spPr>
          <a:xfrm>
            <a:off x="7930783" y="1052003"/>
            <a:ext cx="3789680" cy="938742"/>
          </a:xfrm>
          <a:prstGeom prst="wedgeRoundRectCallout">
            <a:avLst>
              <a:gd name="adj1" fmla="val -22377"/>
              <a:gd name="adj2" fmla="val 93887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Graphik" panose="020B0503030202060203" pitchFamily="34" charset="77"/>
              </a:rPr>
              <a:t>List indices go from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latin typeface="Graphik" panose="020B0503030202060203" pitchFamily="34" charset="77"/>
              </a:rPr>
              <a:t> to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length-1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E2B1CB7-4192-9AEA-5454-A7A92E0B1238}"/>
              </a:ext>
            </a:extLst>
          </p:cNvPr>
          <p:cNvSpPr/>
          <p:nvPr/>
        </p:nvSpPr>
        <p:spPr>
          <a:xfrm>
            <a:off x="7067883" y="5539757"/>
            <a:ext cx="3789680" cy="938742"/>
          </a:xfrm>
          <a:prstGeom prst="wedgeRoundRectCallout">
            <a:avLst>
              <a:gd name="adj1" fmla="val -46339"/>
              <a:gd name="adj2" fmla="val -92866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Graphik" panose="020B0503030202060203" pitchFamily="34" charset="77"/>
              </a:rPr>
              <a:t>Position </a:t>
            </a:r>
            <a:r>
              <a:rPr lang="en-US" sz="2400" dirty="0">
                <a:solidFill>
                  <a:srgbClr val="FF0000"/>
                </a:solidFill>
                <a:latin typeface="Graphik" panose="020B0503030202060203" pitchFamily="34" charset="77"/>
              </a:rPr>
              <a:t>31</a:t>
            </a:r>
            <a:r>
              <a:rPr lang="en-US" sz="2400" dirty="0">
                <a:latin typeface="Graphik" panose="020B0503030202060203" pitchFamily="34" charset="77"/>
              </a:rPr>
              <a:t> in the list is index </a:t>
            </a:r>
            <a:r>
              <a:rPr lang="en-US" sz="2400" dirty="0">
                <a:solidFill>
                  <a:srgbClr val="FF0000"/>
                </a:solidFill>
                <a:latin typeface="Graphik" panose="020B0503030202060203" pitchFamily="34" charset="77"/>
              </a:rPr>
              <a:t>30</a:t>
            </a:r>
            <a:endParaRPr lang="en-US" sz="2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91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 </a:t>
            </a:r>
            <a:r>
              <a:rPr lang="en-GB" sz="3600" b="1" dirty="0">
                <a:solidFill>
                  <a:schemeClr val="tx2"/>
                </a:solidFill>
                <a:latin typeface="Graphik" panose="020B0503030202060203" pitchFamily="34" charset="77"/>
              </a:rPr>
              <a:t>BONUS!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9005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Read an element of a list by index (position) BONUS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603301" y="2244386"/>
            <a:ext cx="11117162" cy="2249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onsolas" panose="020B0609020204030204" pitchFamily="49" charset="0"/>
              </a:rPr>
              <a:t>January = [5, -1, 3, 4, 3, 2, 1, 0, 2, 3, 4, …, 6, 5, 4]</a:t>
            </a:r>
            <a:endParaRPr lang="en-US" sz="24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“Temperatur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</a:rPr>
              <a:t>e</a:t>
            </a:r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</a:rPr>
              <a:t> the last day was </a:t>
            </a:r>
            <a:r>
              <a:rPr lang="en-US" sz="24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{January[-1]}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2400" b="0" dirty="0"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effectLst/>
                <a:latin typeface="Consolas" panose="020B0609020204030204" pitchFamily="49" charset="0"/>
              </a:rPr>
              <a:t>&gt;&gt; Temperature the last day was 4.</a:t>
            </a:r>
            <a:endParaRPr lang="en-US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25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 </a:t>
            </a:r>
            <a:r>
              <a:rPr lang="en-GB" sz="3600" b="1" dirty="0">
                <a:solidFill>
                  <a:schemeClr val="tx2"/>
                </a:solidFill>
                <a:latin typeface="Graphik" panose="020B0503030202060203" pitchFamily="34" charset="77"/>
              </a:rPr>
              <a:t>BONUS!</a:t>
            </a:r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90059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Read an element of a list by index (position)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1180497" y="2809163"/>
            <a:ext cx="11117162" cy="2125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tshirtSize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xs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'xl'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position     1st  2nd  3rd  4th  5th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index --&gt;     0    1    2    3    4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index &lt;--    -5   -4   -3   -2   -1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"Is index 2 the same as -3?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tshirtSize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tshirtSize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ct val="150000"/>
              </a:lnSpc>
            </a:pPr>
            <a:endParaRPr lang="en-US" b="0" dirty="0">
              <a:solidFill>
                <a:srgbClr val="C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456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79275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Modify  an element of a list by index (position)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711301" y="2814606"/>
            <a:ext cx="11117162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January = [5, -1, 3, 4, 3, 2, 1, 0, 2, 3, 4, 5, 6, 7, 6 …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January[2] = 0</a:t>
            </a:r>
            <a:endParaRPr lang="en-US" sz="2400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max. temp. on 3rd of January was </a:t>
            </a:r>
            <a:r>
              <a:rPr lang="en-US" sz="24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{January[2]}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sz="2800" b="0" dirty="0">
                <a:effectLst/>
                <a:latin typeface="Consolas" panose="020B0609020204030204" pitchFamily="49" charset="0"/>
              </a:rPr>
            </a:b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87791228-CC33-98CE-D8FF-28FCD926C88C}"/>
              </a:ext>
            </a:extLst>
          </p:cNvPr>
          <p:cNvSpPr/>
          <p:nvPr/>
        </p:nvSpPr>
        <p:spPr>
          <a:xfrm>
            <a:off x="4176901" y="4895629"/>
            <a:ext cx="2692400" cy="1270000"/>
          </a:xfrm>
          <a:prstGeom prst="wedgeRoundRectCallout">
            <a:avLst>
              <a:gd name="adj1" fmla="val -101587"/>
              <a:gd name="adj2" fmla="val -132700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Graphik" panose="020B0503030202060203" pitchFamily="34" charset="77"/>
              </a:rPr>
              <a:t>Remember that ‘=’ means assignment</a:t>
            </a:r>
          </a:p>
        </p:txBody>
      </p:sp>
    </p:spTree>
    <p:extLst>
      <p:ext uri="{BB962C8B-B14F-4D97-AF65-F5344CB8AC3E}">
        <p14:creationId xmlns:p14="http://schemas.microsoft.com/office/powerpoint/2010/main" val="1754994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D9C25-B106-44AA-95A6-54B136518D9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5EA53-0F6A-F640-959C-9AB3E4B201C7}"/>
              </a:ext>
            </a:extLst>
          </p:cNvPr>
          <p:cNvSpPr txBox="1"/>
          <p:nvPr/>
        </p:nvSpPr>
        <p:spPr>
          <a:xfrm>
            <a:off x="213103" y="1183180"/>
            <a:ext cx="79275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  <a:latin typeface="Graphik" panose="020B0503030202060203" pitchFamily="34" charset="77"/>
              </a:rPr>
              <a:t>Modify  an element of a list by index (position)</a:t>
            </a:r>
            <a:endParaRPr lang="en-NL" sz="3000" b="1" dirty="0">
              <a:solidFill>
                <a:schemeClr val="tx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E265D-469D-CE45-B69A-964119AA2B25}"/>
              </a:ext>
            </a:extLst>
          </p:cNvPr>
          <p:cNvSpPr txBox="1"/>
          <p:nvPr/>
        </p:nvSpPr>
        <p:spPr>
          <a:xfrm>
            <a:off x="711301" y="2814606"/>
            <a:ext cx="11117162" cy="4085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January = [5, -1, 3, 4, 3, 2, 1, 0, 2, 3, 4, 5, 6, 7, 6 …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January[2] = 0</a:t>
            </a:r>
            <a:endParaRPr lang="en-US" sz="2400" b="0" dirty="0">
              <a:solidFill>
                <a:srgbClr val="00B05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max. temp. on 3rd of January was </a:t>
            </a:r>
            <a:r>
              <a:rPr lang="en-US" sz="24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{January[2]}</a:t>
            </a:r>
            <a:r>
              <a:rPr lang="en-US" sz="24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n-US" sz="2400" b="0" dirty="0"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0" dirty="0">
                <a:effectLst/>
                <a:latin typeface="Consolas" panose="020B0609020204030204" pitchFamily="49" charset="0"/>
              </a:rPr>
              <a:t>&gt;&gt; The max. temp. the 3rd of January was 0</a:t>
            </a:r>
          </a:p>
          <a:p>
            <a:pPr>
              <a:lnSpc>
                <a:spcPct val="150000"/>
              </a:lnSpc>
            </a:pPr>
            <a:br>
              <a:rPr lang="en-US" sz="2800" b="0" dirty="0">
                <a:effectLst/>
                <a:latin typeface="Consolas" panose="020B0609020204030204" pitchFamily="49" charset="0"/>
              </a:rPr>
            </a:b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780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4A410-36C7-50C9-C4E4-F5DA1D89CA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70D86-5DCE-B58E-0AE6-39E1F7FEFC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E8520B-075D-0B21-1784-BAA32FD0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operations on lists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4C1D0D-C1F5-E3E7-A0BC-354E6E35D850}"/>
              </a:ext>
            </a:extLst>
          </p:cNvPr>
          <p:cNvSpPr txBox="1"/>
          <p:nvPr/>
        </p:nvSpPr>
        <p:spPr>
          <a:xfrm>
            <a:off x="463635" y="1036898"/>
            <a:ext cx="1166757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Font typeface="Arial" pitchFamily="34" charset="0"/>
              <a:buChar char="•"/>
            </a:lvl1pPr>
            <a:lvl2pPr>
              <a:buFont typeface="Arial" pitchFamily="34" charset="0"/>
              <a:buChar char="•"/>
            </a:lvl2pPr>
            <a:lvl3pPr>
              <a:buFont typeface="Arial" pitchFamily="34" charset="0"/>
              <a:buChar char="‒"/>
            </a:lvl3pPr>
            <a:lvl4pPr>
              <a:buFont typeface="Arial" pitchFamily="34" charset="0"/>
              <a:buChar char="•"/>
            </a:lvl4pPr>
            <a:lvl5pPr>
              <a:buFont typeface="Arial" pitchFamily="34" charset="0"/>
              <a:buChar char="‒"/>
            </a:lvl5pPr>
            <a:lvl6pPr>
              <a:buFont typeface="Arial" pitchFamily="34" charset="0"/>
              <a:buChar char="•"/>
            </a:lvl6pPr>
            <a:lvl7pPr>
              <a:buFont typeface="Arial" pitchFamily="34" charset="0"/>
              <a:buChar char="•"/>
            </a:lvl7pPr>
            <a:lvl8pPr>
              <a:buFont typeface="Arial" pitchFamily="34" charset="0"/>
              <a:buChar char="•"/>
            </a:lvl8pPr>
            <a:lvl9pPr>
              <a:buFont typeface="Arial" pitchFamily="34" charset="0"/>
              <a:buChar char="•"/>
            </a:lvl9pPr>
          </a:lstStyle>
          <a:p>
            <a:pPr>
              <a:buNone/>
            </a:pPr>
            <a:r>
              <a:rPr lang="en-US" sz="2000" dirty="0">
                <a:latin typeface="+mn-lt"/>
              </a:rPr>
              <a:t>Python has set of built-in </a:t>
            </a:r>
            <a:r>
              <a:rPr lang="en-US" sz="2000" b="1" i="1" dirty="0">
                <a:latin typeface="+mn-lt"/>
              </a:rPr>
              <a:t>methods</a:t>
            </a:r>
            <a:r>
              <a:rPr lang="en-US" sz="2000" dirty="0">
                <a:latin typeface="+mn-lt"/>
              </a:rPr>
              <a:t> which you can use to access or manipulate the content of a list:</a:t>
            </a: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the length of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&gt;&gt; 3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inserts element 'x' at position pos 1 of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mylist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mylist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removes first occurrence of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elem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in list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mylist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2000" dirty="0">
              <a:latin typeface="+mn-lt"/>
              <a:sym typeface="Wingdings" panose="05000000000000000000" pitchFamily="2" charset="2"/>
            </a:endParaRP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dirty="0">
                <a:latin typeface="+mn-lt"/>
              </a:rPr>
              <a:t>Q1: what do you find different between </a:t>
            </a:r>
            <a:r>
              <a:rPr lang="en-US" sz="2000" b="1" dirty="0" err="1">
                <a:latin typeface="Consolas" panose="020B0609020204030204" pitchFamily="49" charset="0"/>
              </a:rPr>
              <a:t>len</a:t>
            </a:r>
            <a:r>
              <a:rPr lang="en-US" sz="2000" dirty="0">
                <a:latin typeface="+mn-lt"/>
              </a:rPr>
              <a:t> on one hand and </a:t>
            </a:r>
            <a:r>
              <a:rPr lang="en-US" sz="2000" b="1" dirty="0">
                <a:latin typeface="Consolas" panose="020B0609020204030204" pitchFamily="49" charset="0"/>
              </a:rPr>
              <a:t>insert</a:t>
            </a:r>
            <a:r>
              <a:rPr lang="en-US" sz="2000" dirty="0">
                <a:latin typeface="+mn-lt"/>
              </a:rPr>
              <a:t> and </a:t>
            </a:r>
            <a:r>
              <a:rPr lang="en-US" sz="2000" b="1" dirty="0">
                <a:latin typeface="Consolas" panose="020B0609020204030204" pitchFamily="49" charset="0"/>
              </a:rPr>
              <a:t>remove</a:t>
            </a:r>
            <a:r>
              <a:rPr lang="en-US" sz="2000" dirty="0">
                <a:latin typeface="+mn-lt"/>
              </a:rPr>
              <a:t> on the other hand?</a:t>
            </a: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dirty="0">
                <a:latin typeface="+mn-lt"/>
              </a:rPr>
              <a:t>Q2: What will the following command print? </a:t>
            </a:r>
            <a:r>
              <a:rPr lang="en-US" sz="2000" b="1" dirty="0">
                <a:latin typeface="Consolas" panose="020B0609020204030204" pitchFamily="49" charset="0"/>
              </a:rPr>
              <a:t>print([1,2,3].remove(2)) </a:t>
            </a:r>
          </a:p>
          <a:p>
            <a:pPr marL="952343" lvl="1" indent="-342900"/>
            <a:r>
              <a:rPr lang="en-US" sz="2000" dirty="0">
                <a:latin typeface="+mn-lt"/>
              </a:rPr>
              <a:t>[1,2]</a:t>
            </a:r>
          </a:p>
          <a:p>
            <a:pPr marL="952343" lvl="1" indent="-342900"/>
            <a:r>
              <a:rPr lang="en-US" sz="2000" dirty="0">
                <a:latin typeface="+mn-lt"/>
              </a:rPr>
              <a:t>[1,3]</a:t>
            </a:r>
          </a:p>
          <a:p>
            <a:pPr marL="952343" lvl="1" indent="-342900"/>
            <a:r>
              <a:rPr lang="en-US" sz="2000" dirty="0">
                <a:latin typeface="+mn-lt"/>
              </a:rPr>
              <a:t>None of the above</a:t>
            </a:r>
          </a:p>
          <a:p>
            <a:pPr>
              <a:buNone/>
            </a:pPr>
            <a:endParaRPr lang="en-US" sz="2000" dirty="0">
              <a:latin typeface="+mn-lt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1BC32F22-6C5F-95DD-B9B7-455A53F1AB32}"/>
              </a:ext>
            </a:extLst>
          </p:cNvPr>
          <p:cNvSpPr/>
          <p:nvPr/>
        </p:nvSpPr>
        <p:spPr>
          <a:xfrm>
            <a:off x="4119255" y="1615191"/>
            <a:ext cx="1788160" cy="612648"/>
          </a:xfrm>
          <a:prstGeom prst="wedgeRoundRectCallout">
            <a:avLst>
              <a:gd name="adj1" fmla="val -98396"/>
              <a:gd name="adj2" fmla="val -95045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raphik" panose="020B0503030202060203" pitchFamily="34" charset="77"/>
              </a:rPr>
              <a:t>Commands on objects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9B8E9ACA-9530-D3C0-C210-E8F98361412C}"/>
              </a:ext>
            </a:extLst>
          </p:cNvPr>
          <p:cNvSpPr/>
          <p:nvPr/>
        </p:nvSpPr>
        <p:spPr>
          <a:xfrm>
            <a:off x="4227687" y="2593077"/>
            <a:ext cx="3161010" cy="774603"/>
          </a:xfrm>
          <a:prstGeom prst="wedgeRoundRectCallout">
            <a:avLst>
              <a:gd name="adj1" fmla="val -119987"/>
              <a:gd name="adj2" fmla="val 4458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raphik" panose="020B0503030202060203" pitchFamily="34" charset="77"/>
              </a:rPr>
              <a:t>Reads </a:t>
            </a:r>
            <a:r>
              <a:rPr lang="en-US" b="1" dirty="0" err="1">
                <a:latin typeface="Graphik" panose="020B0503030202060203" pitchFamily="34" charset="77"/>
              </a:rPr>
              <a:t>mylist</a:t>
            </a:r>
            <a:r>
              <a:rPr lang="en-US" b="1" dirty="0">
                <a:latin typeface="Graphik" panose="020B0503030202060203" pitchFamily="34" charset="77"/>
              </a:rPr>
              <a:t> to calculate a value and </a:t>
            </a:r>
            <a:r>
              <a:rPr lang="en-US" b="1" i="1" dirty="0">
                <a:latin typeface="Graphik" panose="020B0503030202060203" pitchFamily="34" charset="77"/>
              </a:rPr>
              <a:t>returns that value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D99AE80-940A-C7AA-B0D1-3298A885B79C}"/>
              </a:ext>
            </a:extLst>
          </p:cNvPr>
          <p:cNvSpPr/>
          <p:nvPr/>
        </p:nvSpPr>
        <p:spPr>
          <a:xfrm>
            <a:off x="3011814" y="4132677"/>
            <a:ext cx="2230745" cy="774602"/>
          </a:xfrm>
          <a:prstGeom prst="wedgeRoundRectCallout">
            <a:avLst>
              <a:gd name="adj1" fmla="val -57726"/>
              <a:gd name="adj2" fmla="val -108387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raphik" panose="020B0503030202060203" pitchFamily="34" charset="77"/>
              </a:rPr>
              <a:t>Modify </a:t>
            </a:r>
            <a:r>
              <a:rPr lang="en-US" b="1" dirty="0" err="1">
                <a:latin typeface="Graphik" panose="020B0503030202060203" pitchFamily="34" charset="77"/>
              </a:rPr>
              <a:t>mylist</a:t>
            </a:r>
            <a:r>
              <a:rPr lang="en-US" b="1" dirty="0">
                <a:latin typeface="Graphik" panose="020B0503030202060203" pitchFamily="34" charset="77"/>
              </a:rPr>
              <a:t> and return </a:t>
            </a:r>
            <a:r>
              <a:rPr lang="en-US" b="1" i="1" dirty="0">
                <a:latin typeface="Graphik" panose="020B0503030202060203" pitchFamily="34" charset="77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1326895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4A410-36C7-50C9-C4E4-F5DA1D89CA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70D86-5DCE-B58E-0AE6-39E1F7FEFC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E8520B-075D-0B21-1784-BAA32FD0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operations on lists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4C1D0D-C1F5-E3E7-A0BC-354E6E35D850}"/>
              </a:ext>
            </a:extLst>
          </p:cNvPr>
          <p:cNvSpPr txBox="1"/>
          <p:nvPr/>
        </p:nvSpPr>
        <p:spPr>
          <a:xfrm>
            <a:off x="477082" y="1036898"/>
            <a:ext cx="1166757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Font typeface="Arial" pitchFamily="34" charset="0"/>
              <a:buChar char="•"/>
            </a:lvl1pPr>
            <a:lvl2pPr>
              <a:buFont typeface="Arial" pitchFamily="34" charset="0"/>
              <a:buChar char="•"/>
            </a:lvl2pPr>
            <a:lvl3pPr>
              <a:buFont typeface="Arial" pitchFamily="34" charset="0"/>
              <a:buChar char="‒"/>
            </a:lvl3pPr>
            <a:lvl4pPr>
              <a:buFont typeface="Arial" pitchFamily="34" charset="0"/>
              <a:buChar char="•"/>
            </a:lvl4pPr>
            <a:lvl5pPr>
              <a:buFont typeface="Arial" pitchFamily="34" charset="0"/>
              <a:buChar char="‒"/>
            </a:lvl5pPr>
            <a:lvl6pPr>
              <a:buFont typeface="Arial" pitchFamily="34" charset="0"/>
              <a:buChar char="•"/>
            </a:lvl6pPr>
            <a:lvl7pPr>
              <a:buFont typeface="Arial" pitchFamily="34" charset="0"/>
              <a:buChar char="•"/>
            </a:lvl7pPr>
            <a:lvl8pPr>
              <a:buFont typeface="Arial" pitchFamily="34" charset="0"/>
              <a:buChar char="•"/>
            </a:lvl8pPr>
            <a:lvl9pPr>
              <a:buFont typeface="Arial" pitchFamily="34" charset="0"/>
              <a:buChar char="•"/>
            </a:lvl9pPr>
          </a:lstStyle>
          <a:p>
            <a:pPr>
              <a:buNone/>
            </a:pPr>
            <a:r>
              <a:rPr lang="en-US" sz="2000" dirty="0">
                <a:latin typeface="+mn-lt"/>
              </a:rPr>
              <a:t>Example on list operations:</a:t>
            </a: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arrivalTime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[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9.42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8.15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8.55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9.07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8.35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b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arrivalTime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"We have recorded "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str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length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 arrival times."</a:t>
            </a:r>
            <a:endParaRPr lang="en-US" sz="20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earliest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min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arrivalTime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latest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max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arrivalTime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"The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 earliest recorded arrival time was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earliest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, while the latest was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latest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."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endParaRPr lang="en-US" sz="2000" dirty="0">
              <a:latin typeface="+mn-lt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1BC32F22-6C5F-95DD-B9B7-455A53F1AB32}"/>
              </a:ext>
            </a:extLst>
          </p:cNvPr>
          <p:cNvSpPr/>
          <p:nvPr/>
        </p:nvSpPr>
        <p:spPr>
          <a:xfrm>
            <a:off x="7860855" y="826052"/>
            <a:ext cx="2856451" cy="1186420"/>
          </a:xfrm>
          <a:prstGeom prst="wedgeRoundRectCallout">
            <a:avLst>
              <a:gd name="adj1" fmla="val -135817"/>
              <a:gd name="adj2" fmla="val 96702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raphik" panose="020B0503030202060203" pitchFamily="34" charset="77"/>
              </a:rPr>
              <a:t>We cast the integer </a:t>
            </a:r>
            <a:r>
              <a:rPr lang="en-US" dirty="0">
                <a:solidFill>
                  <a:srgbClr val="0070C0"/>
                </a:solidFill>
                <a:latin typeface="Graphik" panose="020B0503030202060203" pitchFamily="34" charset="77"/>
              </a:rPr>
              <a:t>length</a:t>
            </a:r>
            <a:r>
              <a:rPr lang="en-US" dirty="0">
                <a:latin typeface="Graphik" panose="020B0503030202060203" pitchFamily="34" charset="77"/>
              </a:rPr>
              <a:t> to a string so we can concatenate it to the rest of the message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D99AE80-940A-C7AA-B0D1-3298A885B79C}"/>
              </a:ext>
            </a:extLst>
          </p:cNvPr>
          <p:cNvSpPr/>
          <p:nvPr/>
        </p:nvSpPr>
        <p:spPr>
          <a:xfrm>
            <a:off x="6575612" y="5050801"/>
            <a:ext cx="3346523" cy="1427697"/>
          </a:xfrm>
          <a:prstGeom prst="wedgeRoundRectCallout">
            <a:avLst>
              <a:gd name="adj1" fmla="val -15935"/>
              <a:gd name="adj2" fmla="val -94019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raphik" panose="020B0503030202060203" pitchFamily="34" charset="77"/>
              </a:rPr>
              <a:t>Formatted strings do the casting themselves. Notice that </a:t>
            </a:r>
            <a:r>
              <a:rPr lang="en-US" dirty="0">
                <a:solidFill>
                  <a:srgbClr val="0070C0"/>
                </a:solidFill>
                <a:latin typeface="Graphik" panose="020B0503030202060203" pitchFamily="34" charset="77"/>
              </a:rPr>
              <a:t>earliest</a:t>
            </a:r>
            <a:r>
              <a:rPr lang="en-US" dirty="0">
                <a:latin typeface="Graphik" panose="020B0503030202060203" pitchFamily="34" charset="77"/>
              </a:rPr>
              <a:t> and </a:t>
            </a:r>
            <a:r>
              <a:rPr lang="en-US" dirty="0">
                <a:solidFill>
                  <a:srgbClr val="0070C0"/>
                </a:solidFill>
                <a:latin typeface="Graphik" panose="020B0503030202060203" pitchFamily="34" charset="77"/>
              </a:rPr>
              <a:t>latest</a:t>
            </a:r>
            <a:r>
              <a:rPr lang="en-US" dirty="0">
                <a:latin typeface="Graphik" panose="020B0503030202060203" pitchFamily="34" charset="77"/>
              </a:rPr>
              <a:t> are floating point numbers.</a:t>
            </a:r>
            <a:endParaRPr lang="en-US" i="1" dirty="0">
              <a:latin typeface="Graphik" panose="020B0503030202060203" pitchFamily="34" charset="77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FDAA6E71-4EE8-BBA2-37C9-182DBB5DA6BD}"/>
              </a:ext>
            </a:extLst>
          </p:cNvPr>
          <p:cNvSpPr/>
          <p:nvPr/>
        </p:nvSpPr>
        <p:spPr>
          <a:xfrm>
            <a:off x="5596757" y="413026"/>
            <a:ext cx="1428226" cy="826052"/>
          </a:xfrm>
          <a:prstGeom prst="wedgeRoundRectCallout">
            <a:avLst>
              <a:gd name="adj1" fmla="val -135817"/>
              <a:gd name="adj2" fmla="val 96702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raphik" panose="020B0503030202060203" pitchFamily="34" charset="77"/>
              </a:rPr>
              <a:t>List of floats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D4921E26-1585-1DCF-2D6B-650114887B30}"/>
              </a:ext>
            </a:extLst>
          </p:cNvPr>
          <p:cNvSpPr/>
          <p:nvPr/>
        </p:nvSpPr>
        <p:spPr>
          <a:xfrm>
            <a:off x="2710121" y="5132248"/>
            <a:ext cx="2224950" cy="1346250"/>
          </a:xfrm>
          <a:prstGeom prst="wedgeRoundRectCallout">
            <a:avLst>
              <a:gd name="adj1" fmla="val -76666"/>
              <a:gd name="adj2" fmla="val -122953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Graphik" panose="020B0503030202060203" pitchFamily="34" charset="77"/>
              </a:rPr>
              <a:t>Gives you the maximum value in a list</a:t>
            </a:r>
          </a:p>
        </p:txBody>
      </p:sp>
    </p:spTree>
    <p:extLst>
      <p:ext uri="{BB962C8B-B14F-4D97-AF65-F5344CB8AC3E}">
        <p14:creationId xmlns:p14="http://schemas.microsoft.com/office/powerpoint/2010/main" val="304301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4A410-36C7-50C9-C4E4-F5DA1D89CA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70D86-5DCE-B58E-0AE6-39E1F7FEFC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E8520B-075D-0B21-1784-BAA32FD0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operations on lists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4C1D0D-C1F5-E3E7-A0BC-354E6E35D850}"/>
              </a:ext>
            </a:extLst>
          </p:cNvPr>
          <p:cNvSpPr txBox="1"/>
          <p:nvPr/>
        </p:nvSpPr>
        <p:spPr>
          <a:xfrm>
            <a:off x="3625077" y="2177239"/>
            <a:ext cx="11667577" cy="25051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Font typeface="Arial" pitchFamily="34" charset="0"/>
              <a:buChar char="•"/>
            </a:lvl1pPr>
            <a:lvl2pPr>
              <a:buFont typeface="Arial" pitchFamily="34" charset="0"/>
              <a:buChar char="•"/>
            </a:lvl2pPr>
            <a:lvl3pPr>
              <a:buFont typeface="Arial" pitchFamily="34" charset="0"/>
              <a:buChar char="‒"/>
            </a:lvl3pPr>
            <a:lvl4pPr>
              <a:buFont typeface="Arial" pitchFamily="34" charset="0"/>
              <a:buChar char="•"/>
            </a:lvl4pPr>
            <a:lvl5pPr>
              <a:buFont typeface="Arial" pitchFamily="34" charset="0"/>
              <a:buChar char="‒"/>
            </a:lvl5pPr>
            <a:lvl6pPr>
              <a:buFont typeface="Arial" pitchFamily="34" charset="0"/>
              <a:buChar char="•"/>
            </a:lvl6pPr>
            <a:lvl7pPr>
              <a:buFont typeface="Arial" pitchFamily="34" charset="0"/>
              <a:buChar char="•"/>
            </a:lvl7pPr>
            <a:lvl8pPr>
              <a:buFont typeface="Arial" pitchFamily="34" charset="0"/>
              <a:buChar char="•"/>
            </a:lvl8pPr>
            <a:lvl9pPr>
              <a:buFont typeface="Arial" pitchFamily="34" charset="0"/>
              <a:buChar char="•"/>
            </a:lvl9pPr>
          </a:lstStyle>
          <a:p>
            <a:pPr>
              <a:buNone/>
            </a:pPr>
            <a:r>
              <a:rPr lang="en-US" sz="2000" dirty="0">
                <a:latin typeface="+mn-lt"/>
              </a:rPr>
              <a:t>Concatenating lists (putting them together)</a:t>
            </a: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tail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'World'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hello_world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tail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hello_world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54259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CDB378-AF57-5631-DB2A-1A12FF33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9EBF3-63EE-6AB0-93B8-143AD915EAE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29FEA-BFD7-2707-0AB1-584BAAD49F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2E5DF9-DD11-8E8D-A722-A8B99C5B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lists</a:t>
            </a:r>
            <a:endParaRPr lang="nl-N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ADEB60-34A6-C331-3E3F-18803C4EB5C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391571" y="-13981"/>
            <a:ext cx="2398485" cy="2394323"/>
          </a:xfrm>
          <a:prstGeom prst="rect">
            <a:avLst/>
          </a:prstGeom>
          <a:solidFill>
            <a:srgbClr val="FFFF00"/>
          </a:solidFill>
        </p:spPr>
        <p:txBody>
          <a:bodyPr vert="horz" wrap="square" rtlCol="0">
            <a:noAutofit/>
          </a:bodyPr>
          <a:lstStyle/>
          <a:p>
            <a:r>
              <a:rPr lang="nl-NL" sz="1200" dirty="0">
                <a:solidFill>
                  <a:srgbClr val="000000"/>
                </a:solidFill>
              </a:rPr>
              <a:t>Tip: have the students write down their answers. Then check which statements most students got right/wrong.</a:t>
            </a:r>
          </a:p>
          <a:p>
            <a:endParaRPr lang="nl-NL" sz="1200" dirty="0">
              <a:solidFill>
                <a:srgbClr val="000000"/>
              </a:solidFill>
            </a:endParaRPr>
          </a:p>
          <a:p>
            <a:r>
              <a:rPr lang="nl-NL" sz="1200" dirty="0">
                <a:solidFill>
                  <a:srgbClr val="000000"/>
                </a:solidFill>
              </a:rPr>
              <a:t>If a lot of students gave the wrong answer for a particular line of code, it’s worth spending some time going over that line again.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A8E45-9C28-023E-630D-B2C299BB562B}"/>
              </a:ext>
            </a:extLst>
          </p:cNvPr>
          <p:cNvSpPr txBox="1"/>
          <p:nvPr/>
        </p:nvSpPr>
        <p:spPr>
          <a:xfrm>
            <a:off x="213101" y="1192281"/>
            <a:ext cx="11399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öhne"/>
              </a:rPr>
              <a:t>Let's create a simple Python program to track the heights of everyone in your family. We'll use a Python list to store all the heights efficiently. For this exercise, heights will be pre-defined instead of being inputted by the user.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13026-DB0D-8FDC-2F79-C78A64FFD00C}"/>
              </a:ext>
            </a:extLst>
          </p:cNvPr>
          <p:cNvSpPr txBox="1"/>
          <p:nvPr/>
        </p:nvSpPr>
        <p:spPr>
          <a:xfrm>
            <a:off x="213103" y="1883340"/>
            <a:ext cx="53352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 u="sng" dirty="0">
                <a:solidFill>
                  <a:schemeClr val="accent2"/>
                </a:solidFill>
                <a:latin typeface="Graphik" panose="020B0503030202060203" pitchFamily="34" charset="77"/>
              </a:rPr>
              <a:t>Exercise</a:t>
            </a:r>
            <a:endParaRPr lang="en-NL" sz="3000" b="1" u="sng" dirty="0">
              <a:solidFill>
                <a:schemeClr val="accent2"/>
              </a:solidFill>
              <a:latin typeface="Graphik" panose="020B050303020206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534E64-8874-64B5-813A-CA3D042CB6B4}"/>
              </a:ext>
            </a:extLst>
          </p:cNvPr>
          <p:cNvSpPr txBox="1"/>
          <p:nvPr/>
        </p:nvSpPr>
        <p:spPr>
          <a:xfrm>
            <a:off x="213103" y="2399090"/>
            <a:ext cx="52201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Create a Python list named </a:t>
            </a:r>
            <a:r>
              <a:rPr lang="en-US" b="1" i="0" dirty="0">
                <a:effectLst/>
                <a:latin typeface="Söhne"/>
              </a:rPr>
              <a:t>"</a:t>
            </a:r>
            <a:r>
              <a:rPr lang="en-US" b="1" i="0" dirty="0" err="1">
                <a:effectLst/>
                <a:latin typeface="Söhne"/>
              </a:rPr>
              <a:t>family_heights</a:t>
            </a:r>
            <a:r>
              <a:rPr lang="en-US" b="1" i="0" dirty="0">
                <a:effectLst/>
                <a:latin typeface="Söhne"/>
              </a:rPr>
              <a:t>" </a:t>
            </a:r>
            <a:r>
              <a:rPr lang="en-US" b="0" i="0" dirty="0">
                <a:effectLst/>
                <a:latin typeface="Söhne"/>
              </a:rPr>
              <a:t>and initialize it with the heights of your family members.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Calculate the total number of family members and assign it to a variable called </a:t>
            </a:r>
            <a:r>
              <a:rPr lang="en-US" b="1" i="0" dirty="0">
                <a:effectLst/>
                <a:latin typeface="Söhne"/>
              </a:rPr>
              <a:t>"</a:t>
            </a:r>
            <a:r>
              <a:rPr lang="en-US" b="1" i="0" dirty="0" err="1">
                <a:effectLst/>
                <a:latin typeface="Söhne"/>
              </a:rPr>
              <a:t>num_family_members</a:t>
            </a:r>
            <a:r>
              <a:rPr lang="en-US" b="1" i="0" dirty="0">
                <a:effectLst/>
                <a:latin typeface="Söhne"/>
              </a:rPr>
              <a:t>"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</a:t>
            </a:r>
            <a:r>
              <a:rPr lang="en-US" b="1" i="0" dirty="0">
                <a:effectLst/>
                <a:latin typeface="Söhne"/>
              </a:rPr>
              <a:t>total number</a:t>
            </a:r>
            <a:r>
              <a:rPr lang="en-US" b="0" i="0" dirty="0">
                <a:effectLst/>
                <a:latin typeface="Söhne"/>
              </a:rPr>
              <a:t> of family members and the </a:t>
            </a:r>
            <a:r>
              <a:rPr lang="en-US" b="1" i="0" dirty="0">
                <a:effectLst/>
                <a:latin typeface="Söhne"/>
              </a:rPr>
              <a:t>list of heights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i="0" dirty="0">
                <a:effectLst/>
                <a:latin typeface="Söhne"/>
              </a:rPr>
              <a:t>Calculate </a:t>
            </a:r>
            <a:r>
              <a:rPr lang="en-US" b="0" i="0" dirty="0">
                <a:effectLst/>
                <a:latin typeface="Söhne"/>
              </a:rPr>
              <a:t>and print the </a:t>
            </a:r>
            <a:r>
              <a:rPr lang="en-US" b="1" i="0" dirty="0">
                <a:effectLst/>
                <a:latin typeface="Söhne"/>
              </a:rPr>
              <a:t>average height of the family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Finally, find and print the tallest and shortest family members along with their heights.</a:t>
            </a:r>
          </a:p>
          <a:p>
            <a:pPr algn="l">
              <a:buFont typeface="+mj-lt"/>
              <a:buAutoNum type="arabicPeriod"/>
            </a:pPr>
            <a:endParaRPr lang="en-US" dirty="0">
              <a:latin typeface="Söhne"/>
            </a:endParaRPr>
          </a:p>
          <a:p>
            <a:pPr algn="l"/>
            <a:r>
              <a:rPr lang="en-US" b="1" i="0" dirty="0">
                <a:effectLst/>
                <a:latin typeface="Söhne"/>
              </a:rPr>
              <a:t>Tips</a:t>
            </a:r>
            <a:r>
              <a:rPr lang="en-US" b="0" i="0" dirty="0">
                <a:effectLst/>
                <a:latin typeface="Söhne"/>
              </a:rPr>
              <a:t>: Just as we have a </a:t>
            </a:r>
            <a:r>
              <a:rPr lang="en-US" dirty="0">
                <a:latin typeface="Söhne"/>
              </a:rPr>
              <a:t>method </a:t>
            </a:r>
            <a:r>
              <a:rPr lang="en-US" b="1" dirty="0" err="1">
                <a:latin typeface="Söhne"/>
              </a:rPr>
              <a:t>len</a:t>
            </a:r>
            <a:r>
              <a:rPr lang="en-US" dirty="0">
                <a:latin typeface="Söhne"/>
              </a:rPr>
              <a:t> to measure a list, you can try using other methods such as </a:t>
            </a:r>
            <a:r>
              <a:rPr lang="en-US" b="1" dirty="0">
                <a:latin typeface="Söhne"/>
              </a:rPr>
              <a:t>sum</a:t>
            </a:r>
            <a:r>
              <a:rPr lang="en-US" dirty="0">
                <a:latin typeface="Söhne"/>
              </a:rPr>
              <a:t>, </a:t>
            </a:r>
            <a:r>
              <a:rPr lang="en-US" b="1" dirty="0">
                <a:latin typeface="Söhne"/>
              </a:rPr>
              <a:t>min</a:t>
            </a:r>
            <a:r>
              <a:rPr lang="en-US" dirty="0">
                <a:latin typeface="Söhne"/>
              </a:rPr>
              <a:t> and </a:t>
            </a:r>
            <a:r>
              <a:rPr lang="en-US" b="1" dirty="0">
                <a:latin typeface="Söhne"/>
              </a:rPr>
              <a:t>max</a:t>
            </a:r>
            <a:r>
              <a:rPr lang="en-US" dirty="0">
                <a:latin typeface="Söhne"/>
              </a:rPr>
              <a:t> to write your code.</a:t>
            </a:r>
            <a:endParaRPr lang="en-US" b="0" i="0" dirty="0">
              <a:effectLst/>
              <a:latin typeface="Söhn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F5FDFA-8EA0-E3F5-AC4B-EC2DF3C7434B}"/>
              </a:ext>
            </a:extLst>
          </p:cNvPr>
          <p:cNvSpPr txBox="1"/>
          <p:nvPr/>
        </p:nvSpPr>
        <p:spPr>
          <a:xfrm>
            <a:off x="7267673" y="5722158"/>
            <a:ext cx="3564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Example</a:t>
            </a:r>
            <a:endParaRPr lang="en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0EF7BF-7224-CDE8-1317-AE81BAC91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388" y="2502694"/>
            <a:ext cx="5531747" cy="549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17B53E-2F23-4CEA-203D-0758971B8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867" y="2006353"/>
            <a:ext cx="7813268" cy="2224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5EC5BA-AE59-3ED7-7BAC-73FF7309A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873" y="3415740"/>
            <a:ext cx="6630262" cy="5119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8AF87F-8CD6-6A2C-E759-64718A2323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753" y="4271813"/>
            <a:ext cx="4401382" cy="4789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AC8E97-962C-66CA-481F-90161CBBB0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2787" y="5083719"/>
            <a:ext cx="6111348" cy="39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Copyright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>
                <a:latin typeface="+mn-lt"/>
              </a:rPr>
              <a:pPr/>
              <a:t>28</a:t>
            </a:fld>
            <a:endParaRPr lang="en-US">
              <a:latin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Bonus: Slicing and dicing</a:t>
            </a:r>
            <a:endParaRPr lang="nl-NL" dirty="0">
              <a:latin typeface="+mj-lt"/>
            </a:endParaRPr>
          </a:p>
        </p:txBody>
      </p:sp>
      <p:pic>
        <p:nvPicPr>
          <p:cNvPr id="15" name="Content Placeholder 1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D703549-D131-0A40-901E-D332795D2B1A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/>
          <a:stretch>
            <a:fillRect/>
          </a:stretch>
        </p:blipFill>
        <p:spPr>
          <a:xfrm>
            <a:off x="256867" y="1775520"/>
            <a:ext cx="6518583" cy="4177584"/>
          </a:xfrm>
          <a:ln>
            <a:solidFill>
              <a:srgbClr val="FFD42E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F52FF8-07FE-9C43-B4A8-908B1CDCC42F}"/>
              </a:ext>
            </a:extLst>
          </p:cNvPr>
          <p:cNvSpPr txBox="1"/>
          <p:nvPr/>
        </p:nvSpPr>
        <p:spPr>
          <a:xfrm>
            <a:off x="256867" y="1129189"/>
            <a:ext cx="8838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It's also possible to </a:t>
            </a:r>
            <a:r>
              <a:rPr lang="en-GB" b="0" i="1" dirty="0">
                <a:solidFill>
                  <a:srgbClr val="05192D"/>
                </a:solidFill>
                <a:effectLst/>
                <a:latin typeface="+mn-lt"/>
              </a:rPr>
              <a:t>slice</a:t>
            </a:r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 your list, which means selecting multiple elements from your list.</a:t>
            </a:r>
            <a:endParaRPr lang="en-NL" dirty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CF1390-042D-C646-B277-61E61E202263}"/>
              </a:ext>
            </a:extLst>
          </p:cNvPr>
          <p:cNvSpPr txBox="1"/>
          <p:nvPr/>
        </p:nvSpPr>
        <p:spPr>
          <a:xfrm>
            <a:off x="7339723" y="2214661"/>
            <a:ext cx="44887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If you don’t specify the start, python assumes you want to start from the first element.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If you don’t specify the end, it assumes you want to go all the way to the end of the list.</a:t>
            </a:r>
            <a:endParaRPr lang="en-GB" dirty="0">
              <a:solidFill>
                <a:srgbClr val="05192D"/>
              </a:solidFill>
              <a:latin typeface="+mn-lt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b="1" dirty="0">
                <a:solidFill>
                  <a:srgbClr val="FFB200"/>
                </a:solidFill>
                <a:latin typeface="+mn-lt"/>
              </a:rPr>
              <a:t>BONUS</a:t>
            </a:r>
            <a:r>
              <a:rPr lang="en-GB" dirty="0">
                <a:solidFill>
                  <a:srgbClr val="05192D"/>
                </a:solidFill>
                <a:latin typeface="+mn-lt"/>
              </a:rPr>
              <a:t>: try these and explain what is happening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GB" dirty="0">
              <a:solidFill>
                <a:srgbClr val="05192D"/>
              </a:solidFill>
              <a:latin typeface="+mn-lt"/>
            </a:endParaRPr>
          </a:p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,]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NL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93A19-6C46-6549-BA97-A0BBFA6AD5F0}"/>
              </a:ext>
            </a:extLst>
          </p:cNvPr>
          <p:cNvSpPr txBox="1"/>
          <p:nvPr/>
        </p:nvSpPr>
        <p:spPr>
          <a:xfrm>
            <a:off x="8649297" y="1568330"/>
            <a:ext cx="2236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2500" b="1" u="sng" dirty="0">
                <a:solidFill>
                  <a:srgbClr val="FFD42E"/>
                </a:solidFill>
                <a:latin typeface="+mn-lt"/>
              </a:rPr>
              <a:t>Remember</a:t>
            </a:r>
          </a:p>
        </p:txBody>
      </p:sp>
    </p:spTree>
    <p:extLst>
      <p:ext uri="{BB962C8B-B14F-4D97-AF65-F5344CB8AC3E}">
        <p14:creationId xmlns:p14="http://schemas.microsoft.com/office/powerpoint/2010/main" val="1145070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DDEBA-B129-308B-D4A0-E4D60491E2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96116-E11B-8429-A122-968F27F8123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65D5A4-FBE8-3E0D-BC18-FD7210D5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Strings are also sequences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7A48CA-8E2E-BAF4-C733-F7FF1CFDBEB6}"/>
              </a:ext>
            </a:extLst>
          </p:cNvPr>
          <p:cNvSpPr txBox="1"/>
          <p:nvPr/>
        </p:nvSpPr>
        <p:spPr>
          <a:xfrm>
            <a:off x="256867" y="1129189"/>
            <a:ext cx="8838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Strings are not lists but they are also sequences. They share some of the same behaviours as lists. However, Strings are immutable.</a:t>
            </a:r>
            <a:endParaRPr lang="en-NL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D205A3-0BBF-0923-57E7-59A595130CA6}"/>
              </a:ext>
            </a:extLst>
          </p:cNvPr>
          <p:cNvSpPr txBox="1"/>
          <p:nvPr/>
        </p:nvSpPr>
        <p:spPr>
          <a:xfrm>
            <a:off x="518331" y="1808584"/>
            <a:ext cx="11668907" cy="4895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     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can read by index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strings are immutable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.insert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strings are immutable, not every list method applicable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specific inbuilt methods (also .upper() .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startswith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etc.)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returns a NEW string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    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same old string from first line</a:t>
            </a:r>
          </a:p>
          <a:p>
            <a:pPr>
              <a:lnSpc>
                <a:spcPct val="200000"/>
              </a:lnSpc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"!"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     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you can concatenate strings easily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Graphic 1" descr="Thumbs Down outline">
            <a:extLst>
              <a:ext uri="{FF2B5EF4-FFF2-40B4-BE49-F238E27FC236}">
                <a16:creationId xmlns:a16="http://schemas.microsoft.com/office/drawing/2014/main" id="{9008D302-DF23-AA68-8408-50E032EF9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069" y="3124647"/>
            <a:ext cx="473569" cy="473569"/>
          </a:xfrm>
          <a:prstGeom prst="rect">
            <a:avLst/>
          </a:prstGeom>
        </p:spPr>
      </p:pic>
      <p:pic>
        <p:nvPicPr>
          <p:cNvPr id="7" name="Graphic 6" descr="Thumbs Down outline">
            <a:extLst>
              <a:ext uri="{FF2B5EF4-FFF2-40B4-BE49-F238E27FC236}">
                <a16:creationId xmlns:a16="http://schemas.microsoft.com/office/drawing/2014/main" id="{16C98BFE-2F8A-610D-8FAD-DF518C3C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068" y="3631280"/>
            <a:ext cx="473569" cy="47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14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Copyright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>
                <a:latin typeface="+mn-lt"/>
              </a:rPr>
              <a:pPr/>
              <a:t>30</a:t>
            </a:fld>
            <a:endParaRPr lang="en-US">
              <a:latin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CONSOLE input</a:t>
            </a:r>
            <a:endParaRPr lang="nl-NL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F52FF8-07FE-9C43-B4A8-908B1CDCC42F}"/>
              </a:ext>
            </a:extLst>
          </p:cNvPr>
          <p:cNvSpPr txBox="1"/>
          <p:nvPr/>
        </p:nvSpPr>
        <p:spPr>
          <a:xfrm>
            <a:off x="1144908" y="1516199"/>
            <a:ext cx="8838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You can interact with your code using the console (terminal). For this, you can use the input function:</a:t>
            </a:r>
          </a:p>
          <a:p>
            <a:endParaRPr lang="en-GB" b="0" i="0" dirty="0">
              <a:solidFill>
                <a:srgbClr val="05192D"/>
              </a:solidFill>
              <a:effectLst/>
              <a:latin typeface="+mn-lt"/>
            </a:endParaRP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"What is your name?"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		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nice to see you here!"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31D217B-A450-1A91-B5D1-89945B4FDE62}"/>
              </a:ext>
            </a:extLst>
          </p:cNvPr>
          <p:cNvSpPr/>
          <p:nvPr/>
        </p:nvSpPr>
        <p:spPr>
          <a:xfrm>
            <a:off x="7330440" y="2255520"/>
            <a:ext cx="1394460" cy="691840"/>
          </a:xfrm>
          <a:prstGeom prst="wedgeRoundRectCallout">
            <a:avLst>
              <a:gd name="adj1" fmla="val -120712"/>
              <a:gd name="adj2" fmla="val 127504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latin typeface="Graphik" panose="020B0503030202060203" pitchFamily="34" charset="77"/>
              </a:rPr>
              <a:t>This message will be printed in the console.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C6EA155-6718-1EA2-F8F1-DD3F6893885F}"/>
              </a:ext>
            </a:extLst>
          </p:cNvPr>
          <p:cNvSpPr/>
          <p:nvPr/>
        </p:nvSpPr>
        <p:spPr>
          <a:xfrm>
            <a:off x="380854" y="2598420"/>
            <a:ext cx="3139586" cy="593242"/>
          </a:xfrm>
          <a:prstGeom prst="wedgeRoundRectCallout">
            <a:avLst>
              <a:gd name="adj1" fmla="val 67704"/>
              <a:gd name="adj2" fmla="val 98010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>
                <a:latin typeface="Graphik" panose="020B0503030202060203" pitchFamily="34" charset="77"/>
              </a:rPr>
              <a:t>Input will wait for you to write your answer on the console and press ENTER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C3118C4-1AF1-3667-DAEA-A33E732C06D5}"/>
              </a:ext>
            </a:extLst>
          </p:cNvPr>
          <p:cNvSpPr/>
          <p:nvPr/>
        </p:nvSpPr>
        <p:spPr>
          <a:xfrm>
            <a:off x="689610" y="4637780"/>
            <a:ext cx="2564130" cy="1675635"/>
          </a:xfrm>
          <a:prstGeom prst="wedgeRoundRectCallout">
            <a:avLst>
              <a:gd name="adj1" fmla="val 112893"/>
              <a:gd name="adj2" fmla="val -85352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600" dirty="0">
                <a:latin typeface="Graphik" panose="020B0503030202060203" pitchFamily="34" charset="77"/>
              </a:rPr>
              <a:t>After you hit ENTER, the code will continue to execute, and your answer will be saved in the variable you assigned it to (name in this case)</a:t>
            </a:r>
          </a:p>
        </p:txBody>
      </p:sp>
    </p:spTree>
    <p:extLst>
      <p:ext uri="{BB962C8B-B14F-4D97-AF65-F5344CB8AC3E}">
        <p14:creationId xmlns:p14="http://schemas.microsoft.com/office/powerpoint/2010/main" val="2616406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Copyright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>
                <a:latin typeface="+mn-lt"/>
              </a:rPr>
              <a:pPr/>
              <a:t>31</a:t>
            </a:fld>
            <a:endParaRPr lang="en-US">
              <a:latin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CONSOLE input</a:t>
            </a:r>
            <a:endParaRPr lang="nl-NL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F52FF8-07FE-9C43-B4A8-908B1CDCC42F}"/>
              </a:ext>
            </a:extLst>
          </p:cNvPr>
          <p:cNvSpPr txBox="1"/>
          <p:nvPr/>
        </p:nvSpPr>
        <p:spPr>
          <a:xfrm>
            <a:off x="620624" y="1129189"/>
            <a:ext cx="8838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In python user input can be captured using built-in input function.</a:t>
            </a:r>
            <a:endParaRPr lang="en-GB" dirty="0">
              <a:solidFill>
                <a:srgbClr val="05192D"/>
              </a:solidFill>
              <a:latin typeface="+mn-lt"/>
            </a:endParaRPr>
          </a:p>
          <a:p>
            <a:endParaRPr lang="en-GB" b="0" i="0" dirty="0">
              <a:solidFill>
                <a:srgbClr val="05192D"/>
              </a:solidFill>
              <a:effectLst/>
              <a:latin typeface="+mn-lt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"""Please select your ice-crem flavor: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1) Chocolate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2) Strawberry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3) Smurf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have selected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selection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359DC-F2A0-D999-9E95-77F314F8E303}"/>
              </a:ext>
            </a:extLst>
          </p:cNvPr>
          <p:cNvSpPr txBox="1"/>
          <p:nvPr/>
        </p:nvSpPr>
        <p:spPr>
          <a:xfrm>
            <a:off x="620624" y="4388049"/>
            <a:ext cx="8838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5192D"/>
                </a:solidFill>
                <a:latin typeface="+mj-lt"/>
              </a:rPr>
              <a:t>The </a:t>
            </a:r>
            <a:r>
              <a:rPr lang="en-GB" b="1" dirty="0">
                <a:solidFill>
                  <a:srgbClr val="05192D"/>
                </a:solidFill>
                <a:latin typeface="Consolas" panose="020B0609020204030204" pitchFamily="49" charset="0"/>
              </a:rPr>
              <a:t>i</a:t>
            </a:r>
            <a:r>
              <a:rPr lang="en-GB" b="1" i="0" dirty="0">
                <a:solidFill>
                  <a:srgbClr val="05192D"/>
                </a:solidFill>
                <a:effectLst/>
                <a:latin typeface="Consolas" panose="020B0609020204030204" pitchFamily="49" charset="0"/>
              </a:rPr>
              <a:t>nput</a:t>
            </a:r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 function returns a string even if it’s a number, so we need to type cast it explicitly. </a:t>
            </a:r>
            <a:endParaRPr lang="en-GB" dirty="0">
              <a:solidFill>
                <a:srgbClr val="05192D"/>
              </a:solidFill>
              <a:latin typeface="+mn-lt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"Choose a number between 1 and 100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&gt;&gt;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chose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so I win!"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 </a:t>
            </a:r>
            <a:endParaRPr lang="en-NL" dirty="0">
              <a:latin typeface="+mn-lt"/>
            </a:endParaRPr>
          </a:p>
          <a:p>
            <a:endParaRPr lang="en-NL" dirty="0">
              <a:latin typeface="+mn-lt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C31D217B-A450-1A91-B5D1-89945B4FDE62}"/>
              </a:ext>
            </a:extLst>
          </p:cNvPr>
          <p:cNvSpPr/>
          <p:nvPr/>
        </p:nvSpPr>
        <p:spPr>
          <a:xfrm>
            <a:off x="6027420" y="2421270"/>
            <a:ext cx="2979420" cy="1282050"/>
          </a:xfrm>
          <a:prstGeom prst="wedgeRoundRectCallout">
            <a:avLst>
              <a:gd name="adj1" fmla="val -222036"/>
              <a:gd name="adj2" fmla="val -69935"/>
              <a:gd name="adj3" fmla="val 16667"/>
            </a:avLst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b="1" dirty="0">
                <a:latin typeface="Graphik" panose="020B0503030202060203" pitchFamily="34" charset="77"/>
              </a:rPr>
              <a:t>“““ Like this, I can write </a:t>
            </a:r>
          </a:p>
          <a:p>
            <a:r>
              <a:rPr lang="en-US" b="1" dirty="0">
                <a:latin typeface="Graphik" panose="020B0503030202060203" pitchFamily="34" charset="77"/>
              </a:rPr>
              <a:t>multiline strings without </a:t>
            </a:r>
          </a:p>
          <a:p>
            <a:r>
              <a:rPr lang="en-US" b="1" dirty="0">
                <a:latin typeface="Graphik" panose="020B0503030202060203" pitchFamily="34" charset="77"/>
              </a:rPr>
              <a:t>having to use</a:t>
            </a:r>
            <a:r>
              <a:rPr lang="en-US" b="1" dirty="0">
                <a:solidFill>
                  <a:srgbClr val="C00000"/>
                </a:solidFill>
                <a:latin typeface="Graphik" panose="020B0503030202060203" pitchFamily="34" charset="77"/>
              </a:rPr>
              <a:t> \n</a:t>
            </a:r>
          </a:p>
          <a:p>
            <a:r>
              <a:rPr lang="en-US" b="1" dirty="0">
                <a:latin typeface="Graphik" panose="020B0503030202060203" pitchFamily="34" charset="77"/>
              </a:rPr>
              <a:t>”””</a:t>
            </a:r>
          </a:p>
        </p:txBody>
      </p:sp>
    </p:spTree>
    <p:extLst>
      <p:ext uri="{BB962C8B-B14F-4D97-AF65-F5344CB8AC3E}">
        <p14:creationId xmlns:p14="http://schemas.microsoft.com/office/powerpoint/2010/main" val="4086629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894368-C6F2-47AB-9025-87F5836B22F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Copyright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55E48-9A62-4A9D-A04C-43639B443C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>
                <a:latin typeface="+mn-lt"/>
              </a:rPr>
              <a:pPr/>
              <a:t>32</a:t>
            </a:fld>
            <a:endParaRPr lang="en-US">
              <a:latin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48F9A-A69F-4C71-808B-B4C75C4A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</a:rPr>
              <a:t>CONSOLE input</a:t>
            </a:r>
            <a:endParaRPr lang="nl-NL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F52FF8-07FE-9C43-B4A8-908B1CDCC42F}"/>
              </a:ext>
            </a:extLst>
          </p:cNvPr>
          <p:cNvSpPr txBox="1"/>
          <p:nvPr/>
        </p:nvSpPr>
        <p:spPr>
          <a:xfrm>
            <a:off x="620624" y="1129189"/>
            <a:ext cx="8838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In python user input can be captured using built-in input function.</a:t>
            </a:r>
            <a:endParaRPr lang="en-GB" dirty="0">
              <a:solidFill>
                <a:srgbClr val="05192D"/>
              </a:solidFill>
              <a:latin typeface="+mn-lt"/>
            </a:endParaRPr>
          </a:p>
          <a:p>
            <a:endParaRPr lang="en-GB" b="0" i="0" dirty="0">
              <a:solidFill>
                <a:srgbClr val="05192D"/>
              </a:solidFill>
              <a:effectLst/>
              <a:latin typeface="+mn-lt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"""Please select your ice-crem flavor: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1) Chocolate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2) Strawberry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3) Smurf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have selected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selection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A359DC-F2A0-D999-9E95-77F314F8E303}"/>
              </a:ext>
            </a:extLst>
          </p:cNvPr>
          <p:cNvSpPr txBox="1"/>
          <p:nvPr/>
        </p:nvSpPr>
        <p:spPr>
          <a:xfrm>
            <a:off x="620624" y="4388049"/>
            <a:ext cx="8838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5192D"/>
                </a:solidFill>
                <a:latin typeface="+mj-lt"/>
              </a:rPr>
              <a:t>The </a:t>
            </a:r>
            <a:r>
              <a:rPr lang="en-GB" b="1" dirty="0">
                <a:solidFill>
                  <a:srgbClr val="05192D"/>
                </a:solidFill>
                <a:latin typeface="Consolas" panose="020B0609020204030204" pitchFamily="49" charset="0"/>
              </a:rPr>
              <a:t>i</a:t>
            </a:r>
            <a:r>
              <a:rPr lang="en-GB" b="1" i="0" dirty="0">
                <a:solidFill>
                  <a:srgbClr val="05192D"/>
                </a:solidFill>
                <a:effectLst/>
                <a:latin typeface="Consolas" panose="020B0609020204030204" pitchFamily="49" charset="0"/>
              </a:rPr>
              <a:t>nput</a:t>
            </a:r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 function returns a string even if it’s a number, so we need to type cast it explicitly. </a:t>
            </a:r>
            <a:endParaRPr lang="en-GB" dirty="0">
              <a:solidFill>
                <a:srgbClr val="05192D"/>
              </a:solidFill>
              <a:latin typeface="+mn-lt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"Choose a number between 1 and 100</a:t>
            </a:r>
            <a:r>
              <a:rPr lang="en-US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&gt;&gt;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chose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so I win!"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b="0" i="0" dirty="0">
                <a:solidFill>
                  <a:srgbClr val="05192D"/>
                </a:solidFill>
                <a:effectLst/>
                <a:latin typeface="+mn-lt"/>
              </a:rPr>
              <a:t> </a:t>
            </a:r>
            <a:endParaRPr lang="en-NL" dirty="0">
              <a:latin typeface="+mn-lt"/>
            </a:endParaRPr>
          </a:p>
          <a:p>
            <a:endParaRPr lang="en-N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30978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D489B-B8F7-4D28-BF8C-641FBFD1C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7766" y="2314928"/>
            <a:ext cx="5555265" cy="1255063"/>
          </a:xfrm>
        </p:spPr>
        <p:txBody>
          <a:bodyPr/>
          <a:lstStyle/>
          <a:p>
            <a:r>
              <a:rPr lang="en-US" dirty="0"/>
              <a:t>Question time</a:t>
            </a:r>
            <a:endParaRPr lang="nl-NL" dirty="0"/>
          </a:p>
        </p:txBody>
      </p:sp>
      <p:grpSp>
        <p:nvGrpSpPr>
          <p:cNvPr id="5" name="Group 54">
            <a:extLst>
              <a:ext uri="{FF2B5EF4-FFF2-40B4-BE49-F238E27FC236}">
                <a16:creationId xmlns:a16="http://schemas.microsoft.com/office/drawing/2014/main" id="{C2C7ECD5-04C8-404C-96EA-4DA6B16C5C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42571" y="2970666"/>
            <a:ext cx="1563117" cy="1559454"/>
            <a:chOff x="2400" y="1718"/>
            <a:chExt cx="427" cy="426"/>
          </a:xfrm>
          <a:solidFill>
            <a:schemeClr val="tx1"/>
          </a:solidFill>
        </p:grpSpPr>
        <p:sp>
          <p:nvSpPr>
            <p:cNvPr id="6" name="Freeform 55">
              <a:extLst>
                <a:ext uri="{FF2B5EF4-FFF2-40B4-BE49-F238E27FC236}">
                  <a16:creationId xmlns:a16="http://schemas.microsoft.com/office/drawing/2014/main" id="{AF8F0847-47DB-4C8B-AA5D-D7FC01906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833"/>
              <a:ext cx="80" cy="116"/>
            </a:xfrm>
            <a:custGeom>
              <a:avLst/>
              <a:gdLst>
                <a:gd name="T0" fmla="*/ 48 w 54"/>
                <a:gd name="T1" fmla="*/ 78 h 78"/>
                <a:gd name="T2" fmla="*/ 6 w 54"/>
                <a:gd name="T3" fmla="*/ 78 h 78"/>
                <a:gd name="T4" fmla="*/ 0 w 54"/>
                <a:gd name="T5" fmla="*/ 72 h 78"/>
                <a:gd name="T6" fmla="*/ 0 w 54"/>
                <a:gd name="T7" fmla="*/ 6 h 78"/>
                <a:gd name="T8" fmla="*/ 6 w 54"/>
                <a:gd name="T9" fmla="*/ 0 h 78"/>
                <a:gd name="T10" fmla="*/ 12 w 54"/>
                <a:gd name="T11" fmla="*/ 6 h 78"/>
                <a:gd name="T12" fmla="*/ 12 w 54"/>
                <a:gd name="T13" fmla="*/ 66 h 78"/>
                <a:gd name="T14" fmla="*/ 48 w 54"/>
                <a:gd name="T15" fmla="*/ 66 h 78"/>
                <a:gd name="T16" fmla="*/ 54 w 54"/>
                <a:gd name="T17" fmla="*/ 72 h 78"/>
                <a:gd name="T18" fmla="*/ 48 w 54"/>
                <a:gd name="T1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" h="78">
                  <a:moveTo>
                    <a:pt x="48" y="78"/>
                  </a:moveTo>
                  <a:cubicBezTo>
                    <a:pt x="6" y="78"/>
                    <a:pt x="6" y="78"/>
                    <a:pt x="6" y="78"/>
                  </a:cubicBezTo>
                  <a:cubicBezTo>
                    <a:pt x="3" y="78"/>
                    <a:pt x="0" y="75"/>
                    <a:pt x="0" y="7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51" y="66"/>
                    <a:pt x="54" y="68"/>
                    <a:pt x="54" y="72"/>
                  </a:cubicBezTo>
                  <a:cubicBezTo>
                    <a:pt x="54" y="75"/>
                    <a:pt x="51" y="78"/>
                    <a:pt x="48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7" name="Freeform 56">
              <a:extLst>
                <a:ext uri="{FF2B5EF4-FFF2-40B4-BE49-F238E27FC236}">
                  <a16:creationId xmlns:a16="http://schemas.microsoft.com/office/drawing/2014/main" id="{41DA21D5-20A5-4DFE-A878-A0F52B4BB0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0" y="1718"/>
              <a:ext cx="427" cy="426"/>
            </a:xfrm>
            <a:custGeom>
              <a:avLst/>
              <a:gdLst>
                <a:gd name="T0" fmla="*/ 234 w 288"/>
                <a:gd name="T1" fmla="*/ 288 h 288"/>
                <a:gd name="T2" fmla="*/ 54 w 288"/>
                <a:gd name="T3" fmla="*/ 288 h 288"/>
                <a:gd name="T4" fmla="*/ 0 w 288"/>
                <a:gd name="T5" fmla="*/ 234 h 288"/>
                <a:gd name="T6" fmla="*/ 0 w 288"/>
                <a:gd name="T7" fmla="*/ 54 h 288"/>
                <a:gd name="T8" fmla="*/ 54 w 288"/>
                <a:gd name="T9" fmla="*/ 0 h 288"/>
                <a:gd name="T10" fmla="*/ 234 w 288"/>
                <a:gd name="T11" fmla="*/ 0 h 288"/>
                <a:gd name="T12" fmla="*/ 288 w 288"/>
                <a:gd name="T13" fmla="*/ 54 h 288"/>
                <a:gd name="T14" fmla="*/ 288 w 288"/>
                <a:gd name="T15" fmla="*/ 234 h 288"/>
                <a:gd name="T16" fmla="*/ 234 w 288"/>
                <a:gd name="T17" fmla="*/ 288 h 288"/>
                <a:gd name="T18" fmla="*/ 54 w 288"/>
                <a:gd name="T19" fmla="*/ 12 h 288"/>
                <a:gd name="T20" fmla="*/ 12 w 288"/>
                <a:gd name="T21" fmla="*/ 54 h 288"/>
                <a:gd name="T22" fmla="*/ 12 w 288"/>
                <a:gd name="T23" fmla="*/ 234 h 288"/>
                <a:gd name="T24" fmla="*/ 54 w 288"/>
                <a:gd name="T25" fmla="*/ 276 h 288"/>
                <a:gd name="T26" fmla="*/ 234 w 288"/>
                <a:gd name="T27" fmla="*/ 276 h 288"/>
                <a:gd name="T28" fmla="*/ 276 w 288"/>
                <a:gd name="T29" fmla="*/ 234 h 288"/>
                <a:gd name="T30" fmla="*/ 276 w 288"/>
                <a:gd name="T31" fmla="*/ 54 h 288"/>
                <a:gd name="T32" fmla="*/ 234 w 288"/>
                <a:gd name="T33" fmla="*/ 12 h 288"/>
                <a:gd name="T34" fmla="*/ 54 w 288"/>
                <a:gd name="T35" fmla="*/ 1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88">
                  <a:moveTo>
                    <a:pt x="234" y="288"/>
                  </a:moveTo>
                  <a:cubicBezTo>
                    <a:pt x="54" y="288"/>
                    <a:pt x="54" y="288"/>
                    <a:pt x="54" y="288"/>
                  </a:cubicBezTo>
                  <a:cubicBezTo>
                    <a:pt x="24" y="288"/>
                    <a:pt x="0" y="263"/>
                    <a:pt x="0" y="23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24"/>
                    <a:pt x="24" y="0"/>
                    <a:pt x="54" y="0"/>
                  </a:cubicBezTo>
                  <a:cubicBezTo>
                    <a:pt x="234" y="0"/>
                    <a:pt x="234" y="0"/>
                    <a:pt x="234" y="0"/>
                  </a:cubicBezTo>
                  <a:cubicBezTo>
                    <a:pt x="264" y="0"/>
                    <a:pt x="288" y="24"/>
                    <a:pt x="288" y="5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63"/>
                    <a:pt x="264" y="288"/>
                    <a:pt x="234" y="288"/>
                  </a:cubicBezTo>
                  <a:close/>
                  <a:moveTo>
                    <a:pt x="54" y="12"/>
                  </a:moveTo>
                  <a:cubicBezTo>
                    <a:pt x="31" y="12"/>
                    <a:pt x="12" y="30"/>
                    <a:pt x="12" y="54"/>
                  </a:cubicBezTo>
                  <a:cubicBezTo>
                    <a:pt x="12" y="234"/>
                    <a:pt x="12" y="234"/>
                    <a:pt x="12" y="234"/>
                  </a:cubicBezTo>
                  <a:cubicBezTo>
                    <a:pt x="12" y="257"/>
                    <a:pt x="31" y="276"/>
                    <a:pt x="54" y="276"/>
                  </a:cubicBezTo>
                  <a:cubicBezTo>
                    <a:pt x="234" y="276"/>
                    <a:pt x="234" y="276"/>
                    <a:pt x="234" y="276"/>
                  </a:cubicBezTo>
                  <a:cubicBezTo>
                    <a:pt x="257" y="276"/>
                    <a:pt x="276" y="257"/>
                    <a:pt x="276" y="234"/>
                  </a:cubicBezTo>
                  <a:cubicBezTo>
                    <a:pt x="276" y="54"/>
                    <a:pt x="276" y="54"/>
                    <a:pt x="276" y="54"/>
                  </a:cubicBezTo>
                  <a:cubicBezTo>
                    <a:pt x="276" y="30"/>
                    <a:pt x="257" y="12"/>
                    <a:pt x="234" y="12"/>
                  </a:cubicBezTo>
                  <a:lnTo>
                    <a:pt x="5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8" name="Freeform 57">
              <a:extLst>
                <a:ext uri="{FF2B5EF4-FFF2-40B4-BE49-F238E27FC236}">
                  <a16:creationId xmlns:a16="http://schemas.microsoft.com/office/drawing/2014/main" id="{8634B568-F1A6-49B7-8791-A0EC3125A1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4" y="1771"/>
              <a:ext cx="319" cy="320"/>
            </a:xfrm>
            <a:custGeom>
              <a:avLst/>
              <a:gdLst>
                <a:gd name="T0" fmla="*/ 108 w 216"/>
                <a:gd name="T1" fmla="*/ 216 h 216"/>
                <a:gd name="T2" fmla="*/ 0 w 216"/>
                <a:gd name="T3" fmla="*/ 108 h 216"/>
                <a:gd name="T4" fmla="*/ 108 w 216"/>
                <a:gd name="T5" fmla="*/ 0 h 216"/>
                <a:gd name="T6" fmla="*/ 216 w 216"/>
                <a:gd name="T7" fmla="*/ 108 h 216"/>
                <a:gd name="T8" fmla="*/ 108 w 216"/>
                <a:gd name="T9" fmla="*/ 216 h 216"/>
                <a:gd name="T10" fmla="*/ 108 w 216"/>
                <a:gd name="T11" fmla="*/ 12 h 216"/>
                <a:gd name="T12" fmla="*/ 12 w 216"/>
                <a:gd name="T13" fmla="*/ 108 h 216"/>
                <a:gd name="T14" fmla="*/ 108 w 216"/>
                <a:gd name="T15" fmla="*/ 204 h 216"/>
                <a:gd name="T16" fmla="*/ 204 w 216"/>
                <a:gd name="T17" fmla="*/ 108 h 216"/>
                <a:gd name="T18" fmla="*/ 108 w 216"/>
                <a:gd name="T19" fmla="*/ 12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6" h="216">
                  <a:moveTo>
                    <a:pt x="108" y="216"/>
                  </a:moveTo>
                  <a:cubicBezTo>
                    <a:pt x="48" y="216"/>
                    <a:pt x="0" y="167"/>
                    <a:pt x="0" y="108"/>
                  </a:cubicBezTo>
                  <a:cubicBezTo>
                    <a:pt x="0" y="48"/>
                    <a:pt x="48" y="0"/>
                    <a:pt x="108" y="0"/>
                  </a:cubicBezTo>
                  <a:cubicBezTo>
                    <a:pt x="168" y="0"/>
                    <a:pt x="216" y="48"/>
                    <a:pt x="216" y="108"/>
                  </a:cubicBezTo>
                  <a:cubicBezTo>
                    <a:pt x="216" y="167"/>
                    <a:pt x="168" y="216"/>
                    <a:pt x="108" y="216"/>
                  </a:cubicBezTo>
                  <a:close/>
                  <a:moveTo>
                    <a:pt x="108" y="12"/>
                  </a:moveTo>
                  <a:cubicBezTo>
                    <a:pt x="55" y="12"/>
                    <a:pt x="12" y="55"/>
                    <a:pt x="12" y="108"/>
                  </a:cubicBezTo>
                  <a:cubicBezTo>
                    <a:pt x="12" y="161"/>
                    <a:pt x="55" y="204"/>
                    <a:pt x="108" y="204"/>
                  </a:cubicBezTo>
                  <a:cubicBezTo>
                    <a:pt x="161" y="204"/>
                    <a:pt x="204" y="161"/>
                    <a:pt x="204" y="108"/>
                  </a:cubicBezTo>
                  <a:cubicBezTo>
                    <a:pt x="204" y="55"/>
                    <a:pt x="161" y="12"/>
                    <a:pt x="10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4538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B084-9740-4853-EA8E-43A7BF3D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003A58-3346-9065-1358-F4089669A335}"/>
              </a:ext>
            </a:extLst>
          </p:cNvPr>
          <p:cNvSpPr txBox="1">
            <a:spLocks/>
          </p:cNvSpPr>
          <p:nvPr/>
        </p:nvSpPr>
        <p:spPr>
          <a:xfrm>
            <a:off x="380854" y="603570"/>
            <a:ext cx="8838242" cy="444963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7500" lnSpcReduction="10000"/>
          </a:bodyPr>
          <a:lstStyle>
            <a:lvl1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AU" sz="6800" b="0" i="0" kern="1200" cap="all" spc="0" baseline="0">
                <a:solidFill>
                  <a:schemeClr val="tx1"/>
                </a:solidFill>
                <a:latin typeface="Graphik Black" panose="020B0A03030202060203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2pPr>
            <a:lvl3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3pPr>
            <a:lvl4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4pPr>
            <a:lvl5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5pPr>
            <a:lvl6pPr marL="609443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6pPr>
            <a:lvl7pPr marL="1218885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7pPr>
            <a:lvl8pPr marL="1828328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8pPr>
            <a:lvl9pPr marL="2437771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9pPr>
          </a:lstStyle>
          <a:p>
            <a:r>
              <a:rPr lang="en-US" sz="4400" dirty="0">
                <a:solidFill>
                  <a:srgbClr val="FFC100"/>
                </a:solidFill>
              </a:rPr>
              <a:t>EXERCISE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A732AED-C8D6-1093-144E-FDB79AB96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67E42A8-D80D-66E3-CA4F-DC5147824737}"/>
              </a:ext>
            </a:extLst>
          </p:cNvPr>
          <p:cNvSpPr txBox="1">
            <a:spLocks/>
          </p:cNvSpPr>
          <p:nvPr/>
        </p:nvSpPr>
        <p:spPr>
          <a:xfrm flipH="1">
            <a:off x="11612463" y="6538988"/>
            <a:ext cx="216000" cy="1619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4F9AC08D-23A9-440E-BCB9-AA1E9877CC3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08503-3880-31BD-3104-4E4E00883252}"/>
              </a:ext>
            </a:extLst>
          </p:cNvPr>
          <p:cNvSpPr txBox="1"/>
          <p:nvPr/>
        </p:nvSpPr>
        <p:spPr>
          <a:xfrm>
            <a:off x="213101" y="1192281"/>
            <a:ext cx="113993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Söhne"/>
              </a:rPr>
              <a:t>Let's create a simple Python program to track the heights of everyone in your family. We'll use a Python list to store all the heights efficiently. For this exercise, heights will be pre-defined instead of being inputted by the user.</a:t>
            </a:r>
          </a:p>
          <a:p>
            <a:pPr algn="just"/>
            <a:endParaRPr lang="en-US" b="0" i="0" dirty="0">
              <a:effectLst/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tx2"/>
                </a:solidFill>
                <a:effectLst/>
                <a:latin typeface="+mj-lt"/>
              </a:rPr>
              <a:t>Instructions: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32580B-1D73-E7C9-DC1F-01CB244F71EC}"/>
              </a:ext>
            </a:extLst>
          </p:cNvPr>
          <p:cNvSpPr txBox="1"/>
          <p:nvPr/>
        </p:nvSpPr>
        <p:spPr>
          <a:xfrm>
            <a:off x="213103" y="2603287"/>
            <a:ext cx="58805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Create a list called </a:t>
            </a:r>
            <a:r>
              <a:rPr lang="en-US" b="1" i="0" dirty="0">
                <a:effectLst/>
                <a:latin typeface="Söhne"/>
              </a:rPr>
              <a:t>numbers</a:t>
            </a:r>
            <a:r>
              <a:rPr lang="en-US" b="0" i="0" dirty="0">
                <a:effectLst/>
                <a:latin typeface="Söhne"/>
              </a:rPr>
              <a:t> containing the height of </a:t>
            </a:r>
            <a:r>
              <a:rPr lang="en-US" b="0" i="0">
                <a:effectLst/>
                <a:latin typeface="Söhne"/>
              </a:rPr>
              <a:t>5 family members</a:t>
            </a:r>
            <a:endParaRPr lang="en-US" b="0" i="0" dirty="0">
              <a:effectLst/>
              <a:latin typeface="Söhne"/>
            </a:endParaRP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list.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length of the list.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first element of the list.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last element of the list.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</a:t>
            </a:r>
            <a:r>
              <a:rPr lang="en-US" b="0" i="0" dirty="0" err="1">
                <a:effectLst/>
                <a:latin typeface="Söhne"/>
              </a:rPr>
              <a:t>sublist</a:t>
            </a:r>
            <a:r>
              <a:rPr lang="en-US" b="0" i="0" dirty="0">
                <a:effectLst/>
                <a:latin typeface="Söhne"/>
              </a:rPr>
              <a:t> containing the second and third elements of the list.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Modify the fourth element of the list to be 30.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modified list.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C10AB6-3710-DFA5-54FA-D67C65F40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38811"/>
            <a:ext cx="65" cy="677623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98375" rIns="0" bIns="19837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999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1147DB-B077-2290-0217-4D3264111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378" y="158675"/>
            <a:ext cx="7680555" cy="6374860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79C25-5728-4591-AFD6-2D68BBC377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3894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6A06727-212F-37F9-E4EE-EFD3DCC36DAB}"/>
              </a:ext>
            </a:extLst>
          </p:cNvPr>
          <p:cNvSpPr txBox="1">
            <a:spLocks/>
          </p:cNvSpPr>
          <p:nvPr/>
        </p:nvSpPr>
        <p:spPr>
          <a:xfrm>
            <a:off x="380854" y="603570"/>
            <a:ext cx="8838242" cy="444963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7500" lnSpcReduction="10000"/>
          </a:bodyPr>
          <a:lstStyle>
            <a:lvl1pPr algn="l" rtl="0" eaLnBrk="1" fontAlgn="base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AU" sz="6800" b="0" i="0" kern="1200" cap="all" spc="0" baseline="0">
                <a:solidFill>
                  <a:schemeClr val="tx1"/>
                </a:solidFill>
                <a:latin typeface="Graphik Black" panose="020B0A03030202060203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2pPr>
            <a:lvl3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3pPr>
            <a:lvl4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4pPr>
            <a:lvl5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5pPr>
            <a:lvl6pPr marL="609443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6pPr>
            <a:lvl7pPr marL="1218885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7pPr>
            <a:lvl8pPr marL="1828328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8pPr>
            <a:lvl9pPr marL="2437771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9pPr>
          </a:lstStyle>
          <a:p>
            <a:r>
              <a:rPr lang="en-US" sz="4400" dirty="0">
                <a:solidFill>
                  <a:srgbClr val="FFC100"/>
                </a:solidFill>
              </a:rPr>
              <a:t>EXERCISE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A75FBBF-D575-D635-01B7-6DD93DD69B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388697" y="6538913"/>
            <a:ext cx="4140338" cy="162000"/>
          </a:xfrm>
        </p:spPr>
        <p:txBody>
          <a:bodyPr/>
          <a:lstStyle/>
          <a:p>
            <a:r>
              <a:rPr lang="en-US"/>
              <a:t>Copyright 2020 Accenture. All rights reserved.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0070FBF-4E4F-B59B-FAF8-23735EAFF288}"/>
              </a:ext>
            </a:extLst>
          </p:cNvPr>
          <p:cNvSpPr txBox="1">
            <a:spLocks/>
          </p:cNvSpPr>
          <p:nvPr/>
        </p:nvSpPr>
        <p:spPr>
          <a:xfrm flipH="1">
            <a:off x="11612463" y="6538988"/>
            <a:ext cx="216000" cy="1619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4F9AC08D-23A9-440E-BCB9-AA1E9877CC3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17ABFC-F171-2F9F-68A7-D0A85DF60ABE}"/>
              </a:ext>
            </a:extLst>
          </p:cNvPr>
          <p:cNvSpPr txBox="1"/>
          <p:nvPr/>
        </p:nvSpPr>
        <p:spPr>
          <a:xfrm>
            <a:off x="380854" y="1192281"/>
            <a:ext cx="100500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Söhne"/>
              </a:rPr>
              <a:t>Let's create a simple Python program to track the heights of everyone in your family. We'll use a Python list to store all the heights efficiently. For this exercise, heights will be pre-defined by you in </a:t>
            </a:r>
            <a:r>
              <a:rPr lang="en-US" b="1" i="0" dirty="0">
                <a:solidFill>
                  <a:schemeClr val="tx2"/>
                </a:solidFill>
                <a:effectLst/>
                <a:latin typeface="Söhne"/>
              </a:rPr>
              <a:t>centimeters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just"/>
            <a:endParaRPr lang="en-US" b="0" i="0" dirty="0">
              <a:effectLst/>
              <a:latin typeface="Söhne"/>
            </a:endParaRPr>
          </a:p>
          <a:p>
            <a:pPr algn="just"/>
            <a:r>
              <a:rPr lang="en-US" b="1" i="0" dirty="0">
                <a:solidFill>
                  <a:schemeClr val="tx2"/>
                </a:solidFill>
                <a:effectLst/>
                <a:latin typeface="Söhne"/>
              </a:rPr>
              <a:t>Instructions: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078BC-0C9B-EAA4-6025-CB2AA8FC60F0}"/>
              </a:ext>
            </a:extLst>
          </p:cNvPr>
          <p:cNvSpPr txBox="1"/>
          <p:nvPr/>
        </p:nvSpPr>
        <p:spPr>
          <a:xfrm>
            <a:off x="380854" y="2841873"/>
            <a:ext cx="93539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Create a Python list named </a:t>
            </a:r>
            <a:r>
              <a:rPr lang="en-US" b="1" i="0" dirty="0">
                <a:effectLst/>
                <a:latin typeface="Söhne"/>
              </a:rPr>
              <a:t>"</a:t>
            </a:r>
            <a:r>
              <a:rPr lang="en-US" b="1" i="0" dirty="0" err="1">
                <a:effectLst/>
                <a:latin typeface="Söhne"/>
              </a:rPr>
              <a:t>family_heights</a:t>
            </a:r>
            <a:r>
              <a:rPr lang="en-US" b="1" i="0" dirty="0">
                <a:effectLst/>
                <a:latin typeface="Söhne"/>
              </a:rPr>
              <a:t>" </a:t>
            </a:r>
            <a:r>
              <a:rPr lang="en-US" b="0" i="0" dirty="0">
                <a:effectLst/>
                <a:latin typeface="Söhne"/>
              </a:rPr>
              <a:t>and initialize it with the heights of your family members.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Calculate the total number of family members and assign it to a variable called </a:t>
            </a:r>
            <a:r>
              <a:rPr lang="en-US" b="1" i="0" dirty="0">
                <a:effectLst/>
                <a:latin typeface="Söhne"/>
              </a:rPr>
              <a:t>"</a:t>
            </a:r>
            <a:r>
              <a:rPr lang="en-US" b="1" i="0" dirty="0" err="1">
                <a:effectLst/>
                <a:latin typeface="Söhne"/>
              </a:rPr>
              <a:t>num_family_members</a:t>
            </a:r>
            <a:r>
              <a:rPr lang="en-US" b="1" i="0" dirty="0">
                <a:effectLst/>
                <a:latin typeface="Söhne"/>
              </a:rPr>
              <a:t>"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Print the </a:t>
            </a:r>
            <a:r>
              <a:rPr lang="en-US" b="1" i="0" dirty="0">
                <a:effectLst/>
                <a:latin typeface="Söhne"/>
              </a:rPr>
              <a:t>total number</a:t>
            </a:r>
            <a:r>
              <a:rPr lang="en-US" b="0" i="0" dirty="0">
                <a:effectLst/>
                <a:latin typeface="Söhne"/>
              </a:rPr>
              <a:t> of family members and the </a:t>
            </a:r>
            <a:r>
              <a:rPr lang="en-US" b="1" i="0" dirty="0">
                <a:effectLst/>
                <a:latin typeface="Söhne"/>
              </a:rPr>
              <a:t>list of heights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i="0" dirty="0">
                <a:effectLst/>
                <a:latin typeface="Söhne"/>
              </a:rPr>
              <a:t>Calculate </a:t>
            </a:r>
            <a:r>
              <a:rPr lang="en-US" b="0" i="0" dirty="0">
                <a:effectLst/>
                <a:latin typeface="Söhne"/>
              </a:rPr>
              <a:t>and print the </a:t>
            </a:r>
            <a:r>
              <a:rPr lang="en-US" b="1" i="0" dirty="0">
                <a:effectLst/>
                <a:latin typeface="Söhne"/>
              </a:rPr>
              <a:t>average height of the family</a:t>
            </a:r>
            <a:r>
              <a:rPr lang="en-US" b="0" i="0" dirty="0">
                <a:effectLst/>
                <a:latin typeface="Söhne"/>
              </a:rPr>
              <a:t>.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effectLst/>
                <a:latin typeface="Söhne"/>
              </a:rPr>
              <a:t>Finally, find and print the tallest and shortest family members along with their heights.</a:t>
            </a:r>
          </a:p>
          <a:p>
            <a:pPr algn="just">
              <a:buFont typeface="+mj-lt"/>
              <a:buAutoNum type="arabicPeriod"/>
            </a:pPr>
            <a:endParaRPr lang="en-US" dirty="0">
              <a:latin typeface="Söhne"/>
            </a:endParaRPr>
          </a:p>
          <a:p>
            <a:pPr algn="l"/>
            <a:r>
              <a:rPr lang="en-US" b="1" i="0" dirty="0">
                <a:effectLst/>
                <a:latin typeface="Söhne"/>
              </a:rPr>
              <a:t>Tips</a:t>
            </a:r>
            <a:r>
              <a:rPr lang="en-US" b="0" i="0" dirty="0">
                <a:effectLst/>
                <a:latin typeface="Söhne"/>
              </a:rPr>
              <a:t>: Just as we have a </a:t>
            </a:r>
            <a:r>
              <a:rPr lang="en-US" dirty="0">
                <a:latin typeface="Söhne"/>
              </a:rPr>
              <a:t>method </a:t>
            </a:r>
            <a:r>
              <a:rPr lang="en-US" b="1" dirty="0" err="1">
                <a:latin typeface="Söhne"/>
              </a:rPr>
              <a:t>len</a:t>
            </a:r>
            <a:r>
              <a:rPr lang="en-US" dirty="0">
                <a:latin typeface="Söhne"/>
              </a:rPr>
              <a:t> to measure a list, you can try using other methods such as </a:t>
            </a:r>
            <a:r>
              <a:rPr lang="en-US" b="1" dirty="0">
                <a:latin typeface="Söhne"/>
              </a:rPr>
              <a:t>sum</a:t>
            </a:r>
            <a:r>
              <a:rPr lang="en-US" dirty="0">
                <a:latin typeface="Söhne"/>
              </a:rPr>
              <a:t>, </a:t>
            </a:r>
            <a:r>
              <a:rPr lang="en-US" b="1" dirty="0">
                <a:latin typeface="Söhne"/>
              </a:rPr>
              <a:t>min</a:t>
            </a:r>
            <a:r>
              <a:rPr lang="en-US" dirty="0">
                <a:latin typeface="Söhne"/>
              </a:rPr>
              <a:t> and </a:t>
            </a:r>
            <a:r>
              <a:rPr lang="en-US" b="1" dirty="0">
                <a:latin typeface="Söhne"/>
              </a:rPr>
              <a:t>max</a:t>
            </a:r>
            <a:r>
              <a:rPr lang="en-US" dirty="0">
                <a:latin typeface="Söhne"/>
              </a:rPr>
              <a:t> to write your code.</a:t>
            </a:r>
            <a:endParaRPr lang="en-US" b="0" i="0" dirty="0"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645091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245C-EE78-7B0B-D751-6C8FCB2B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E1A755-70AF-9315-9985-009316A24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46" y="68263"/>
            <a:ext cx="11422345" cy="672306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2E0E4-50D4-2F1C-E291-2925BF64CC4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Copyright 2020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729216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193E2DF-CAE8-4C94-BCE2-C5A55EF3A932}"/>
              </a:ext>
            </a:extLst>
          </p:cNvPr>
          <p:cNvSpPr txBox="1">
            <a:spLocks/>
          </p:cNvSpPr>
          <p:nvPr/>
        </p:nvSpPr>
        <p:spPr>
          <a:xfrm>
            <a:off x="414098" y="1782365"/>
            <a:ext cx="7903637" cy="1255063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lang="en-AU" sz="3600" b="0" i="0" kern="1200" cap="all" spc="0" baseline="0" dirty="0" smtClean="0">
                <a:solidFill>
                  <a:schemeClr val="tx1"/>
                </a:solidFill>
                <a:latin typeface="Graphik Black" panose="020B0503030202060203" pitchFamily="34" charset="77"/>
                <a:ea typeface="Roboto Black" panose="02000000000000000000" pitchFamily="2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2pPr>
            <a:lvl3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3pPr>
            <a:lvl4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4pPr>
            <a:lvl5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5pPr>
            <a:lvl6pPr marL="609443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6pPr>
            <a:lvl7pPr marL="1218885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7pPr>
            <a:lvl8pPr marL="1828328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8pPr>
            <a:lvl9pPr marL="2437771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9pPr>
          </a:lstStyle>
          <a:p>
            <a:endParaRPr lang="en-US" sz="5400" dirty="0"/>
          </a:p>
        </p:txBody>
      </p:sp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C984524C-4809-4A64-A091-3A46017BF7E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/>
          <a:srcRect l="305" r="42839"/>
          <a:stretch/>
        </p:blipFill>
        <p:spPr>
          <a:xfrm>
            <a:off x="6093619" y="0"/>
            <a:ext cx="6093619" cy="6859588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3D607ECD-AF07-46C6-9858-075F4EFD91CA}"/>
              </a:ext>
            </a:extLst>
          </p:cNvPr>
          <p:cNvSpPr txBox="1">
            <a:spLocks/>
          </p:cNvSpPr>
          <p:nvPr/>
        </p:nvSpPr>
        <p:spPr>
          <a:xfrm>
            <a:off x="602286" y="1515140"/>
            <a:ext cx="5009008" cy="125506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rtl="0" eaLnBrk="1" fontAlgn="base" hangingPunct="1">
              <a:lnSpc>
                <a:spcPct val="8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lang="en-US" sz="3600" b="0" i="0" kern="1200" cap="all" spc="0" baseline="0">
                <a:solidFill>
                  <a:schemeClr val="tx1"/>
                </a:solidFill>
                <a:latin typeface="Graphik Black" panose="020B0503030202060203" pitchFamily="34" charset="77"/>
                <a:ea typeface="Roboto" panose="02000000000000000000" pitchFamily="2" charset="0"/>
                <a:cs typeface="Arial" panose="020B0604020202020204" pitchFamily="34" charset="0"/>
              </a:defRPr>
            </a:lvl1pPr>
            <a:lvl2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2pPr>
            <a:lvl3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3pPr>
            <a:lvl4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4pPr>
            <a:lvl5pPr algn="l" rtl="0" eaLnBrk="1" fontAlgn="base" hangingPunct="1">
              <a:lnSpc>
                <a:spcPts val="3466"/>
              </a:lnSpc>
              <a:spcBef>
                <a:spcPct val="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5pPr>
            <a:lvl6pPr marL="609443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6pPr>
            <a:lvl7pPr marL="1218885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7pPr>
            <a:lvl8pPr marL="1828328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8pPr>
            <a:lvl9pPr marL="2437771" algn="l" rtl="0" eaLnBrk="1" fontAlgn="base" hangingPunct="1">
              <a:spcBef>
                <a:spcPct val="0"/>
              </a:spcBef>
              <a:spcAft>
                <a:spcPct val="0"/>
              </a:spcAft>
              <a:buFont typeface="Arial" pitchFamily="-105" charset="-52"/>
              <a:defRPr sz="3500">
                <a:solidFill>
                  <a:schemeClr val="tx1"/>
                </a:solidFill>
                <a:latin typeface="Arial" pitchFamily="-105" charset="-52"/>
                <a:ea typeface="Arial" pitchFamily="-105" charset="-52"/>
                <a:cs typeface="Arial" pitchFamily="-105" charset="-52"/>
              </a:defRPr>
            </a:lvl9pPr>
          </a:lstStyle>
          <a:p>
            <a:r>
              <a:rPr lang="nl-NL" sz="4400" dirty="0"/>
              <a:t>SEE YOU </a:t>
            </a:r>
            <a:br>
              <a:rPr lang="nl-NL" sz="4400" dirty="0"/>
            </a:br>
            <a:r>
              <a:rPr lang="nl-NL" sz="4400" dirty="0"/>
              <a:t>NEXT WEEK!</a:t>
            </a:r>
            <a:br>
              <a:rPr lang="nl-NL" sz="4400" dirty="0"/>
            </a:br>
            <a:br>
              <a:rPr lang="nl-NL" sz="4400" dirty="0"/>
            </a:br>
            <a:br>
              <a:rPr lang="nl-NL" sz="4400" dirty="0"/>
            </a:br>
            <a:endParaRPr lang="nl-NL" sz="4400" dirty="0"/>
          </a:p>
        </p:txBody>
      </p:sp>
    </p:spTree>
    <p:extLst>
      <p:ext uri="{BB962C8B-B14F-4D97-AF65-F5344CB8AC3E}">
        <p14:creationId xmlns:p14="http://schemas.microsoft.com/office/powerpoint/2010/main" val="18032140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Tex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heme/theme1.xml><?xml version="1.0" encoding="utf-8"?>
<a:theme xmlns:a="http://schemas.openxmlformats.org/drawingml/2006/main" name="2_AD Master">
  <a:themeElements>
    <a:clrScheme name="Accenture Digital - July 2018">
      <a:dk1>
        <a:srgbClr val="000000"/>
      </a:dk1>
      <a:lt1>
        <a:srgbClr val="FFFFFF"/>
      </a:lt1>
      <a:dk2>
        <a:srgbClr val="FF9500"/>
      </a:dk2>
      <a:lt2>
        <a:srgbClr val="A6A6A6"/>
      </a:lt2>
      <a:accent1>
        <a:srgbClr val="FFC100"/>
      </a:accent1>
      <a:accent2>
        <a:srgbClr val="FFD93A"/>
      </a:accent2>
      <a:accent3>
        <a:srgbClr val="FEFB00"/>
      </a:accent3>
      <a:accent4>
        <a:srgbClr val="6D6D6D"/>
      </a:accent4>
      <a:accent5>
        <a:srgbClr val="A6A6A6"/>
      </a:accent5>
      <a:accent6>
        <a:srgbClr val="C9C9C9"/>
      </a:accent6>
      <a:hlink>
        <a:srgbClr val="FFC100"/>
      </a:hlink>
      <a:folHlink>
        <a:srgbClr val="FFC100"/>
      </a:folHlink>
    </a:clrScheme>
    <a:fontScheme name="Graphik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3_AD Master">
  <a:themeElements>
    <a:clrScheme name="Accenture Digital - July 2018">
      <a:dk1>
        <a:srgbClr val="000000"/>
      </a:dk1>
      <a:lt1>
        <a:srgbClr val="FFFFFF"/>
      </a:lt1>
      <a:dk2>
        <a:srgbClr val="FF9500"/>
      </a:dk2>
      <a:lt2>
        <a:srgbClr val="A6A6A6"/>
      </a:lt2>
      <a:accent1>
        <a:srgbClr val="FFC100"/>
      </a:accent1>
      <a:accent2>
        <a:srgbClr val="FFD93A"/>
      </a:accent2>
      <a:accent3>
        <a:srgbClr val="FEFB00"/>
      </a:accent3>
      <a:accent4>
        <a:srgbClr val="6D6D6D"/>
      </a:accent4>
      <a:accent5>
        <a:srgbClr val="A6A6A6"/>
      </a:accent5>
      <a:accent6>
        <a:srgbClr val="C9C9C9"/>
      </a:accent6>
      <a:hlink>
        <a:srgbClr val="FFC100"/>
      </a:hlink>
      <a:folHlink>
        <a:srgbClr val="FFC100"/>
      </a:folHlink>
    </a:clrScheme>
    <a:fontScheme name="Graphik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D3E120828F9B44A3C8C363BFE34D71" ma:contentTypeVersion="4" ma:contentTypeDescription="Create a new document." ma:contentTypeScope="" ma:versionID="9e7e9867536771236a8ecda3b10ff35b">
  <xsd:schema xmlns:xsd="http://www.w3.org/2001/XMLSchema" xmlns:xs="http://www.w3.org/2001/XMLSchema" xmlns:p="http://schemas.microsoft.com/office/2006/metadata/properties" xmlns:ns2="6bed0593-09eb-48e2-add1-a369508bc7b6" targetNamespace="http://schemas.microsoft.com/office/2006/metadata/properties" ma:root="true" ma:fieldsID="4306fc503eb7867cbb3561a790d70436" ns2:_="">
    <xsd:import namespace="6bed0593-09eb-48e2-add1-a369508bc7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ed0593-09eb-48e2-add1-a369508bc7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9D2063-03AA-4169-9D11-E11F07FE8B6A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bed0593-09eb-48e2-add1-a369508bc7b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3D5341-3312-4D05-B22A-AA2D6329DC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DA2F36-48C4-41AB-A3A7-28ED033413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ed0593-09eb-48e2-add1-a369508bc7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29eea9c-5281-4377-b6bc-afc76db9d7b4}" enabled="1" method="Privileged" siteId="{af73baa8-f594-4eb2-a39d-93e96cad61fc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</TotalTime>
  <Words>3889</Words>
  <Application>Microsoft Office PowerPoint</Application>
  <PresentationFormat>Custom</PresentationFormat>
  <Paragraphs>433</Paragraphs>
  <Slides>38</Slides>
  <Notes>29</Notes>
  <HiddenSlides>1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54" baseType="lpstr">
      <vt:lpstr>Arial</vt:lpstr>
      <vt:lpstr>Studio-Feixen-Sans</vt:lpstr>
      <vt:lpstr>Roboto</vt:lpstr>
      <vt:lpstr>Graphik Light</vt:lpstr>
      <vt:lpstr>Consolas</vt:lpstr>
      <vt:lpstr>Söhne</vt:lpstr>
      <vt:lpstr>Graphik Black</vt:lpstr>
      <vt:lpstr>Graphik</vt:lpstr>
      <vt:lpstr>Arial Black</vt:lpstr>
      <vt:lpstr>Calibri</vt:lpstr>
      <vt:lpstr>Courier New</vt:lpstr>
      <vt:lpstr>Wingdings</vt:lpstr>
      <vt:lpstr>Graphik Regular</vt:lpstr>
      <vt:lpstr>Söhne Mono</vt:lpstr>
      <vt:lpstr>2_AD Master</vt:lpstr>
      <vt:lpstr>3_AD Master</vt:lpstr>
      <vt:lpstr>Codemasters for refugee talent</vt:lpstr>
      <vt:lpstr>PowerPoint Presentation</vt:lpstr>
      <vt:lpstr>How I use python</vt:lpstr>
      <vt:lpstr>Agenda for session 3</vt:lpstr>
      <vt:lpstr>Recap</vt:lpstr>
      <vt:lpstr>Recap</vt:lpstr>
      <vt:lpstr>COMMENTs </vt:lpstr>
      <vt:lpstr>EXERCISE</vt:lpstr>
      <vt:lpstr>Type conversion</vt:lpstr>
      <vt:lpstr>F-Strings</vt:lpstr>
      <vt:lpstr>Python Lists</vt:lpstr>
      <vt:lpstr>Python Lists</vt:lpstr>
      <vt:lpstr>Python lists</vt:lpstr>
      <vt:lpstr>Python lists</vt:lpstr>
      <vt:lpstr>Python lists</vt:lpstr>
      <vt:lpstr>Python lists</vt:lpstr>
      <vt:lpstr>Python lists</vt:lpstr>
      <vt:lpstr>Python lists</vt:lpstr>
      <vt:lpstr>Python lists</vt:lpstr>
      <vt:lpstr>Python lists BONUS!</vt:lpstr>
      <vt:lpstr>Python lists BONUS!</vt:lpstr>
      <vt:lpstr>Python lists</vt:lpstr>
      <vt:lpstr>Python lists</vt:lpstr>
      <vt:lpstr>More operations on lists</vt:lpstr>
      <vt:lpstr>More operations on lists</vt:lpstr>
      <vt:lpstr>More operations on lists</vt:lpstr>
      <vt:lpstr>Python lists</vt:lpstr>
      <vt:lpstr>Bonus: Slicing and dicing</vt:lpstr>
      <vt:lpstr>Strings are also sequences </vt:lpstr>
      <vt:lpstr>CONSOLE input</vt:lpstr>
      <vt:lpstr>CONSOLE input</vt:lpstr>
      <vt:lpstr>CONSOLE input</vt:lpstr>
      <vt:lpstr>Question time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Lucas de Lima Meira</cp:lastModifiedBy>
  <cp:revision>1</cp:revision>
  <dcterms:created xsi:type="dcterms:W3CDTF">2018-09-05T16:39:45Z</dcterms:created>
  <dcterms:modified xsi:type="dcterms:W3CDTF">2026-04-15T15:51:33Z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0x010100B0D3E120828F9B44A3C8C363BFE34D71</vt:lpwstr>
  </property>
  <property fmtid="{D5CDD505-2E9C-101B-9397-08002B2CF9AE}" pid="3" name="MediaServiceImageTags">
    <vt:lpwstr/>
  </property>
  <property fmtid="{D5CDD505-2E9C-101B-9397-08002B2CF9AE}" pid="4" name="MSIP_Label_229eea9c-5281-4377-b6bc-afc76db9d7b4_Enabled">
    <vt:lpwstr>true</vt:lpwstr>
  </property>
  <property fmtid="{D5CDD505-2E9C-101B-9397-08002B2CF9AE}" pid="5" name="MSIP_Label_229eea9c-5281-4377-b6bc-afc76db9d7b4_SetDate">
    <vt:lpwstr>2024-03-20T19:26:06Z</vt:lpwstr>
  </property>
  <property fmtid="{D5CDD505-2E9C-101B-9397-08002B2CF9AE}" pid="6" name="MSIP_Label_229eea9c-5281-4377-b6bc-afc76db9d7b4_Method">
    <vt:lpwstr>Privileged</vt:lpwstr>
  </property>
  <property fmtid="{D5CDD505-2E9C-101B-9397-08002B2CF9AE}" pid="7" name="MSIP_Label_229eea9c-5281-4377-b6bc-afc76db9d7b4_Name">
    <vt:lpwstr>229eea9c-5281-4377-b6bc-afc76db9d7b4</vt:lpwstr>
  </property>
  <property fmtid="{D5CDD505-2E9C-101B-9397-08002B2CF9AE}" pid="8" name="MSIP_Label_229eea9c-5281-4377-b6bc-afc76db9d7b4_SiteId">
    <vt:lpwstr>af73baa8-f594-4eb2-a39d-93e96cad61fc</vt:lpwstr>
  </property>
  <property fmtid="{D5CDD505-2E9C-101B-9397-08002B2CF9AE}" pid="9" name="MSIP_Label_229eea9c-5281-4377-b6bc-afc76db9d7b4_ActionId">
    <vt:lpwstr>f90a8419-a9f0-4d4f-8f5b-840f8dafb585</vt:lpwstr>
  </property>
  <property fmtid="{D5CDD505-2E9C-101B-9397-08002B2CF9AE}" pid="10" name="MSIP_Label_229eea9c-5281-4377-b6bc-afc76db9d7b4_ContentBits">
    <vt:lpwstr>2</vt:lpwstr>
  </property>
</Properties>
</file>